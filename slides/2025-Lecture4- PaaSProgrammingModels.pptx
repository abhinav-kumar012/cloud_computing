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2"/>
  </p:notesMasterIdLst>
  <p:handoutMasterIdLst>
    <p:handoutMasterId r:id="rId23"/>
  </p:handoutMasterIdLst>
  <p:sldIdLst>
    <p:sldId id="274" r:id="rId2"/>
    <p:sldId id="293" r:id="rId3"/>
    <p:sldId id="294" r:id="rId4"/>
    <p:sldId id="295" r:id="rId5"/>
    <p:sldId id="305" r:id="rId6"/>
    <p:sldId id="297" r:id="rId7"/>
    <p:sldId id="298" r:id="rId8"/>
    <p:sldId id="299" r:id="rId9"/>
    <p:sldId id="300" r:id="rId10"/>
    <p:sldId id="287" r:id="rId11"/>
    <p:sldId id="275" r:id="rId12"/>
    <p:sldId id="283" r:id="rId13"/>
    <p:sldId id="289" r:id="rId14"/>
    <p:sldId id="291" r:id="rId15"/>
    <p:sldId id="288" r:id="rId16"/>
    <p:sldId id="292" r:id="rId17"/>
    <p:sldId id="277" r:id="rId18"/>
    <p:sldId id="278" r:id="rId19"/>
    <p:sldId id="280" r:id="rId20"/>
    <p:sldId id="29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191" autoAdjust="0"/>
  </p:normalViewPr>
  <p:slideViewPr>
    <p:cSldViewPr snapToObjects="1">
      <p:cViewPr varScale="1">
        <p:scale>
          <a:sx n="74" d="100"/>
          <a:sy n="74" d="100"/>
        </p:scale>
        <p:origin x="35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29199C-1F25-4BB8-AE70-E25C218D63F1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7AD8F85-8802-4BA1-8239-730E6BD5AA51}">
      <dgm:prSet/>
      <dgm:spPr/>
      <dgm:t>
        <a:bodyPr/>
        <a:lstStyle/>
        <a:p>
          <a:pPr rtl="0"/>
          <a:r>
            <a:rPr lang="en-US" i="1"/>
            <a:t>Web role</a:t>
          </a:r>
          <a:endParaRPr lang="en-US"/>
        </a:p>
      </dgm:t>
    </dgm:pt>
    <dgm:pt modelId="{17F807BA-F24D-4486-B838-4D45CC83937D}" type="parTrans" cxnId="{C0CBCC8E-EDFA-43B4-9137-29F9B07492B5}">
      <dgm:prSet/>
      <dgm:spPr/>
      <dgm:t>
        <a:bodyPr/>
        <a:lstStyle/>
        <a:p>
          <a:endParaRPr lang="en-US"/>
        </a:p>
      </dgm:t>
    </dgm:pt>
    <dgm:pt modelId="{9CDD2189-595F-4867-8BE5-50E99D02E480}" type="sibTrans" cxnId="{C0CBCC8E-EDFA-43B4-9137-29F9B07492B5}">
      <dgm:prSet/>
      <dgm:spPr/>
      <dgm:t>
        <a:bodyPr/>
        <a:lstStyle/>
        <a:p>
          <a:endParaRPr lang="en-US"/>
        </a:p>
      </dgm:t>
    </dgm:pt>
    <dgm:pt modelId="{9E63DF18-A5BC-4A45-AF2D-AB184FF4B285}">
      <dgm:prSet/>
      <dgm:spPr/>
      <dgm:t>
        <a:bodyPr/>
        <a:lstStyle/>
        <a:p>
          <a:pPr rtl="0"/>
          <a:r>
            <a:rPr lang="en-US"/>
            <a:t>Accepts HTTP and HTTPS requests</a:t>
          </a:r>
        </a:p>
      </dgm:t>
    </dgm:pt>
    <dgm:pt modelId="{AAACB752-8AEE-4BF3-BAFE-7BE7DD3CFC1D}" type="parTrans" cxnId="{967E59EE-E832-4A7E-A11A-EA5885E4BE9B}">
      <dgm:prSet/>
      <dgm:spPr/>
      <dgm:t>
        <a:bodyPr/>
        <a:lstStyle/>
        <a:p>
          <a:endParaRPr lang="en-US"/>
        </a:p>
      </dgm:t>
    </dgm:pt>
    <dgm:pt modelId="{2953E46D-8BFC-44B2-AC04-2BFE3E7B8D18}" type="sibTrans" cxnId="{967E59EE-E832-4A7E-A11A-EA5885E4BE9B}">
      <dgm:prSet/>
      <dgm:spPr/>
      <dgm:t>
        <a:bodyPr/>
        <a:lstStyle/>
        <a:p>
          <a:endParaRPr lang="en-US"/>
        </a:p>
      </dgm:t>
    </dgm:pt>
    <dgm:pt modelId="{6994DD49-DB74-4C61-BFAE-F9DA7FE92182}">
      <dgm:prSet/>
      <dgm:spPr/>
      <dgm:t>
        <a:bodyPr/>
        <a:lstStyle/>
        <a:p>
          <a:pPr rtl="0"/>
          <a:r>
            <a:rPr lang="en-US"/>
            <a:t>Runs under IIS (Microsoft Web Server)</a:t>
          </a:r>
        </a:p>
      </dgm:t>
    </dgm:pt>
    <dgm:pt modelId="{6BCB7017-4903-4E0C-880D-B4463C45DFA3}" type="parTrans" cxnId="{C1CDB534-EE61-4168-A82B-8F8E4F477142}">
      <dgm:prSet/>
      <dgm:spPr/>
      <dgm:t>
        <a:bodyPr/>
        <a:lstStyle/>
        <a:p>
          <a:endParaRPr lang="en-US"/>
        </a:p>
      </dgm:t>
    </dgm:pt>
    <dgm:pt modelId="{09A9AC4B-C946-4687-A1FA-64C55525581A}" type="sibTrans" cxnId="{C1CDB534-EE61-4168-A82B-8F8E4F477142}">
      <dgm:prSet/>
      <dgm:spPr/>
      <dgm:t>
        <a:bodyPr/>
        <a:lstStyle/>
        <a:p>
          <a:endParaRPr lang="en-US"/>
        </a:p>
      </dgm:t>
    </dgm:pt>
    <dgm:pt modelId="{010B45D8-E84A-46CC-ACAA-A7464065EEF0}">
      <dgm:prSet/>
      <dgm:spPr/>
      <dgm:t>
        <a:bodyPr/>
        <a:lstStyle/>
        <a:p>
          <a:pPr rtl="0"/>
          <a:r>
            <a:rPr lang="en-US"/>
            <a:t>Intended to be used as front-end for application</a:t>
          </a:r>
        </a:p>
      </dgm:t>
    </dgm:pt>
    <dgm:pt modelId="{399A676B-8717-4CD1-AD26-6E78F87681A5}" type="parTrans" cxnId="{4C46BE13-9CCF-4ADF-832C-FD96FE5FBA14}">
      <dgm:prSet/>
      <dgm:spPr/>
      <dgm:t>
        <a:bodyPr/>
        <a:lstStyle/>
        <a:p>
          <a:endParaRPr lang="en-US"/>
        </a:p>
      </dgm:t>
    </dgm:pt>
    <dgm:pt modelId="{F9FB8BF8-A311-4679-A3CF-14DBDC45DF6C}" type="sibTrans" cxnId="{4C46BE13-9CCF-4ADF-832C-FD96FE5FBA14}">
      <dgm:prSet/>
      <dgm:spPr/>
      <dgm:t>
        <a:bodyPr/>
        <a:lstStyle/>
        <a:p>
          <a:endParaRPr lang="en-US"/>
        </a:p>
      </dgm:t>
    </dgm:pt>
    <dgm:pt modelId="{9CC3E107-AD93-4587-A8F6-F48B7E85C5C8}">
      <dgm:prSet/>
      <dgm:spPr/>
      <dgm:t>
        <a:bodyPr/>
        <a:lstStyle/>
        <a:p>
          <a:pPr rtl="0"/>
          <a:r>
            <a:rPr lang="en-US" i="1"/>
            <a:t>Worker role</a:t>
          </a:r>
          <a:endParaRPr lang="en-US"/>
        </a:p>
      </dgm:t>
    </dgm:pt>
    <dgm:pt modelId="{AA54A7F8-8A58-4728-BF12-290E8DAF4BDB}" type="parTrans" cxnId="{2FE4A27C-F678-46E2-B537-752EA74B47A4}">
      <dgm:prSet/>
      <dgm:spPr/>
      <dgm:t>
        <a:bodyPr/>
        <a:lstStyle/>
        <a:p>
          <a:endParaRPr lang="en-US"/>
        </a:p>
      </dgm:t>
    </dgm:pt>
    <dgm:pt modelId="{36BFBEDB-615B-460F-851C-F01223FA60EA}" type="sibTrans" cxnId="{2FE4A27C-F678-46E2-B537-752EA74B47A4}">
      <dgm:prSet/>
      <dgm:spPr/>
      <dgm:t>
        <a:bodyPr/>
        <a:lstStyle/>
        <a:p>
          <a:endParaRPr lang="en-US"/>
        </a:p>
      </dgm:t>
    </dgm:pt>
    <dgm:pt modelId="{092B4EDF-7317-44BB-8C51-388B42C4D928}">
      <dgm:prSet/>
      <dgm:spPr/>
      <dgm:t>
        <a:bodyPr/>
        <a:lstStyle/>
        <a:p>
          <a:pPr rtl="0"/>
          <a:r>
            <a:rPr lang="en-US"/>
            <a:t>.Net process</a:t>
          </a:r>
        </a:p>
      </dgm:t>
    </dgm:pt>
    <dgm:pt modelId="{C53EA144-8200-471F-BA21-785A58F85148}" type="parTrans" cxnId="{7822A4F4-CE12-4FB3-95A8-03C1208DE897}">
      <dgm:prSet/>
      <dgm:spPr/>
      <dgm:t>
        <a:bodyPr/>
        <a:lstStyle/>
        <a:p>
          <a:endParaRPr lang="en-US"/>
        </a:p>
      </dgm:t>
    </dgm:pt>
    <dgm:pt modelId="{D3065B49-09D0-4B77-95D5-916921C618F0}" type="sibTrans" cxnId="{7822A4F4-CE12-4FB3-95A8-03C1208DE897}">
      <dgm:prSet/>
      <dgm:spPr/>
      <dgm:t>
        <a:bodyPr/>
        <a:lstStyle/>
        <a:p>
          <a:endParaRPr lang="en-US"/>
        </a:p>
      </dgm:t>
    </dgm:pt>
    <dgm:pt modelId="{4251B6E9-AD98-4C78-AFB9-022C37013EAC}">
      <dgm:prSet/>
      <dgm:spPr/>
      <dgm:t>
        <a:bodyPr/>
        <a:lstStyle/>
        <a:p>
          <a:pPr rtl="0"/>
          <a:r>
            <a:rPr lang="en-US"/>
            <a:t>Intended to be used as back-end for application</a:t>
          </a:r>
        </a:p>
      </dgm:t>
    </dgm:pt>
    <dgm:pt modelId="{EAACE695-EFB7-4797-A9CE-3117E4491BB8}" type="parTrans" cxnId="{3E08FB2D-1D68-48E3-B40F-6B8B87090598}">
      <dgm:prSet/>
      <dgm:spPr/>
      <dgm:t>
        <a:bodyPr/>
        <a:lstStyle/>
        <a:p>
          <a:endParaRPr lang="en-US"/>
        </a:p>
      </dgm:t>
    </dgm:pt>
    <dgm:pt modelId="{3CC9A03A-CCAC-4F07-A05D-7C305F7D0FEB}" type="sibTrans" cxnId="{3E08FB2D-1D68-48E3-B40F-6B8B87090598}">
      <dgm:prSet/>
      <dgm:spPr/>
      <dgm:t>
        <a:bodyPr/>
        <a:lstStyle/>
        <a:p>
          <a:endParaRPr lang="en-US"/>
        </a:p>
      </dgm:t>
    </dgm:pt>
    <dgm:pt modelId="{2DE5D4ED-7150-44B6-8F71-1F7BB796F04D}">
      <dgm:prSet/>
      <dgm:spPr/>
      <dgm:t>
        <a:bodyPr/>
        <a:lstStyle/>
        <a:p>
          <a:pPr rtl="0"/>
          <a:r>
            <a:rPr lang="en-US"/>
            <a:t>Why are worker roles needed?</a:t>
          </a:r>
        </a:p>
      </dgm:t>
    </dgm:pt>
    <dgm:pt modelId="{594A2843-E731-4812-BFBC-4BE4ACB35751}" type="parTrans" cxnId="{E5C2859E-3333-4285-BBF6-AE1277F0F026}">
      <dgm:prSet/>
      <dgm:spPr/>
      <dgm:t>
        <a:bodyPr/>
        <a:lstStyle/>
        <a:p>
          <a:endParaRPr lang="en-US"/>
        </a:p>
      </dgm:t>
    </dgm:pt>
    <dgm:pt modelId="{5FDA52BA-5400-4F29-AA24-A8CA3B0E6C70}" type="sibTrans" cxnId="{E5C2859E-3333-4285-BBF6-AE1277F0F026}">
      <dgm:prSet/>
      <dgm:spPr/>
      <dgm:t>
        <a:bodyPr/>
        <a:lstStyle/>
        <a:p>
          <a:endParaRPr lang="en-US"/>
        </a:p>
      </dgm:t>
    </dgm:pt>
    <dgm:pt modelId="{30729138-A724-4E6E-910A-A7C78C269CD2}" type="pres">
      <dgm:prSet presAssocID="{7529199C-1F25-4BB8-AE70-E25C218D63F1}" presName="Name0" presStyleCnt="0">
        <dgm:presLayoutVars>
          <dgm:dir/>
          <dgm:animLvl val="lvl"/>
          <dgm:resizeHandles val="exact"/>
        </dgm:presLayoutVars>
      </dgm:prSet>
      <dgm:spPr/>
    </dgm:pt>
    <dgm:pt modelId="{C006AA54-5FC8-495A-9241-D191C5A77604}" type="pres">
      <dgm:prSet presAssocID="{67AD8F85-8802-4BA1-8239-730E6BD5AA51}" presName="linNode" presStyleCnt="0"/>
      <dgm:spPr/>
    </dgm:pt>
    <dgm:pt modelId="{2BE750FC-32B6-41B9-9176-44A31600D6C3}" type="pres">
      <dgm:prSet presAssocID="{67AD8F85-8802-4BA1-8239-730E6BD5AA5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5AE81B6-325E-4356-8202-1E042C8F82D0}" type="pres">
      <dgm:prSet presAssocID="{67AD8F85-8802-4BA1-8239-730E6BD5AA51}" presName="descendantText" presStyleLbl="alignAccFollowNode1" presStyleIdx="0" presStyleCnt="2">
        <dgm:presLayoutVars>
          <dgm:bulletEnabled val="1"/>
        </dgm:presLayoutVars>
      </dgm:prSet>
      <dgm:spPr/>
    </dgm:pt>
    <dgm:pt modelId="{AB17FDB2-142C-4D71-8FC5-3751190CEA20}" type="pres">
      <dgm:prSet presAssocID="{9CDD2189-595F-4867-8BE5-50E99D02E480}" presName="sp" presStyleCnt="0"/>
      <dgm:spPr/>
    </dgm:pt>
    <dgm:pt modelId="{C9FE039D-EA28-40D1-B1A5-232F12A11A11}" type="pres">
      <dgm:prSet presAssocID="{9CC3E107-AD93-4587-A8F6-F48B7E85C5C8}" presName="linNode" presStyleCnt="0"/>
      <dgm:spPr/>
    </dgm:pt>
    <dgm:pt modelId="{4FABC2E4-FAE1-4A59-9812-93C979B59FD3}" type="pres">
      <dgm:prSet presAssocID="{9CC3E107-AD93-4587-A8F6-F48B7E85C5C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4087FE3-29C1-496B-87B2-715DBD8B648C}" type="pres">
      <dgm:prSet presAssocID="{9CC3E107-AD93-4587-A8F6-F48B7E85C5C8}" presName="descendantText" presStyleLbl="alignAccFollowNode1" presStyleIdx="1" presStyleCnt="2">
        <dgm:presLayoutVars>
          <dgm:bulletEnabled val="1"/>
        </dgm:presLayoutVars>
      </dgm:prSet>
      <dgm:spPr/>
    </dgm:pt>
    <dgm:pt modelId="{1B0C04AC-DA60-4AB8-88FE-9AAECEAC8EE4}" type="pres">
      <dgm:prSet presAssocID="{36BFBEDB-615B-460F-851C-F01223FA60EA}" presName="sp" presStyleCnt="0"/>
      <dgm:spPr/>
    </dgm:pt>
    <dgm:pt modelId="{6E919846-ED80-453A-BB12-FBDBF63EB825}" type="pres">
      <dgm:prSet presAssocID="{2DE5D4ED-7150-44B6-8F71-1F7BB796F04D}" presName="linNode" presStyleCnt="0"/>
      <dgm:spPr/>
    </dgm:pt>
    <dgm:pt modelId="{F295EF93-B577-4C3C-AFBA-779F92362143}" type="pres">
      <dgm:prSet presAssocID="{2DE5D4ED-7150-44B6-8F71-1F7BB796F04D}" presName="parentText" presStyleLbl="node1" presStyleIdx="2" presStyleCnt="3" custScaleX="277778">
        <dgm:presLayoutVars>
          <dgm:chMax val="1"/>
          <dgm:bulletEnabled val="1"/>
        </dgm:presLayoutVars>
      </dgm:prSet>
      <dgm:spPr/>
    </dgm:pt>
  </dgm:ptLst>
  <dgm:cxnLst>
    <dgm:cxn modelId="{4C46BE13-9CCF-4ADF-832C-FD96FE5FBA14}" srcId="{67AD8F85-8802-4BA1-8239-730E6BD5AA51}" destId="{010B45D8-E84A-46CC-ACAA-A7464065EEF0}" srcOrd="2" destOrd="0" parTransId="{399A676B-8717-4CD1-AD26-6E78F87681A5}" sibTransId="{F9FB8BF8-A311-4679-A3CF-14DBDC45DF6C}"/>
    <dgm:cxn modelId="{2574222A-28A6-4811-B5CC-E50D7284C9DA}" type="presOf" srcId="{092B4EDF-7317-44BB-8C51-388B42C4D928}" destId="{64087FE3-29C1-496B-87B2-715DBD8B648C}" srcOrd="0" destOrd="0" presId="urn:microsoft.com/office/officeart/2005/8/layout/vList5"/>
    <dgm:cxn modelId="{3E08FB2D-1D68-48E3-B40F-6B8B87090598}" srcId="{9CC3E107-AD93-4587-A8F6-F48B7E85C5C8}" destId="{4251B6E9-AD98-4C78-AFB9-022C37013EAC}" srcOrd="1" destOrd="0" parTransId="{EAACE695-EFB7-4797-A9CE-3117E4491BB8}" sibTransId="{3CC9A03A-CCAC-4F07-A05D-7C305F7D0FEB}"/>
    <dgm:cxn modelId="{C1CDB534-EE61-4168-A82B-8F8E4F477142}" srcId="{67AD8F85-8802-4BA1-8239-730E6BD5AA51}" destId="{6994DD49-DB74-4C61-BFAE-F9DA7FE92182}" srcOrd="1" destOrd="0" parTransId="{6BCB7017-4903-4E0C-880D-B4463C45DFA3}" sibTransId="{09A9AC4B-C946-4687-A1FA-64C55525581A}"/>
    <dgm:cxn modelId="{414F3D75-5F7F-4511-BB54-E28A38E18E8C}" type="presOf" srcId="{010B45D8-E84A-46CC-ACAA-A7464065EEF0}" destId="{25AE81B6-325E-4356-8202-1E042C8F82D0}" srcOrd="0" destOrd="2" presId="urn:microsoft.com/office/officeart/2005/8/layout/vList5"/>
    <dgm:cxn modelId="{F4F7BD77-4337-4A08-9CFE-15B493BCC690}" type="presOf" srcId="{7529199C-1F25-4BB8-AE70-E25C218D63F1}" destId="{30729138-A724-4E6E-910A-A7C78C269CD2}" srcOrd="0" destOrd="0" presId="urn:microsoft.com/office/officeart/2005/8/layout/vList5"/>
    <dgm:cxn modelId="{2FE4A27C-F678-46E2-B537-752EA74B47A4}" srcId="{7529199C-1F25-4BB8-AE70-E25C218D63F1}" destId="{9CC3E107-AD93-4587-A8F6-F48B7E85C5C8}" srcOrd="1" destOrd="0" parTransId="{AA54A7F8-8A58-4728-BF12-290E8DAF4BDB}" sibTransId="{36BFBEDB-615B-460F-851C-F01223FA60EA}"/>
    <dgm:cxn modelId="{70AF457D-0A64-41F6-9714-DD86A544C344}" type="presOf" srcId="{67AD8F85-8802-4BA1-8239-730E6BD5AA51}" destId="{2BE750FC-32B6-41B9-9176-44A31600D6C3}" srcOrd="0" destOrd="0" presId="urn:microsoft.com/office/officeart/2005/8/layout/vList5"/>
    <dgm:cxn modelId="{C0CBCC8E-EDFA-43B4-9137-29F9B07492B5}" srcId="{7529199C-1F25-4BB8-AE70-E25C218D63F1}" destId="{67AD8F85-8802-4BA1-8239-730E6BD5AA51}" srcOrd="0" destOrd="0" parTransId="{17F807BA-F24D-4486-B838-4D45CC83937D}" sibTransId="{9CDD2189-595F-4867-8BE5-50E99D02E480}"/>
    <dgm:cxn modelId="{0A99219B-600C-43C8-9FB6-916A46E60D00}" type="presOf" srcId="{9CC3E107-AD93-4587-A8F6-F48B7E85C5C8}" destId="{4FABC2E4-FAE1-4A59-9812-93C979B59FD3}" srcOrd="0" destOrd="0" presId="urn:microsoft.com/office/officeart/2005/8/layout/vList5"/>
    <dgm:cxn modelId="{E5C2859E-3333-4285-BBF6-AE1277F0F026}" srcId="{7529199C-1F25-4BB8-AE70-E25C218D63F1}" destId="{2DE5D4ED-7150-44B6-8F71-1F7BB796F04D}" srcOrd="2" destOrd="0" parTransId="{594A2843-E731-4812-BFBC-4BE4ACB35751}" sibTransId="{5FDA52BA-5400-4F29-AA24-A8CA3B0E6C70}"/>
    <dgm:cxn modelId="{3F5BF1B4-4F29-47BA-B2CE-61FA3C8BD786}" type="presOf" srcId="{2DE5D4ED-7150-44B6-8F71-1F7BB796F04D}" destId="{F295EF93-B577-4C3C-AFBA-779F92362143}" srcOrd="0" destOrd="0" presId="urn:microsoft.com/office/officeart/2005/8/layout/vList5"/>
    <dgm:cxn modelId="{F94019C1-3B24-4593-A90D-2F0F7156921C}" type="presOf" srcId="{9E63DF18-A5BC-4A45-AF2D-AB184FF4B285}" destId="{25AE81B6-325E-4356-8202-1E042C8F82D0}" srcOrd="0" destOrd="0" presId="urn:microsoft.com/office/officeart/2005/8/layout/vList5"/>
    <dgm:cxn modelId="{68864CC9-9723-484B-91E6-B63428005EDB}" type="presOf" srcId="{4251B6E9-AD98-4C78-AFB9-022C37013EAC}" destId="{64087FE3-29C1-496B-87B2-715DBD8B648C}" srcOrd="0" destOrd="1" presId="urn:microsoft.com/office/officeart/2005/8/layout/vList5"/>
    <dgm:cxn modelId="{B25AD9D6-C3EE-4FE2-9643-673D286CC5CC}" type="presOf" srcId="{6994DD49-DB74-4C61-BFAE-F9DA7FE92182}" destId="{25AE81B6-325E-4356-8202-1E042C8F82D0}" srcOrd="0" destOrd="1" presId="urn:microsoft.com/office/officeart/2005/8/layout/vList5"/>
    <dgm:cxn modelId="{967E59EE-E832-4A7E-A11A-EA5885E4BE9B}" srcId="{67AD8F85-8802-4BA1-8239-730E6BD5AA51}" destId="{9E63DF18-A5BC-4A45-AF2D-AB184FF4B285}" srcOrd="0" destOrd="0" parTransId="{AAACB752-8AEE-4BF3-BAFE-7BE7DD3CFC1D}" sibTransId="{2953E46D-8BFC-44B2-AC04-2BFE3E7B8D18}"/>
    <dgm:cxn modelId="{7822A4F4-CE12-4FB3-95A8-03C1208DE897}" srcId="{9CC3E107-AD93-4587-A8F6-F48B7E85C5C8}" destId="{092B4EDF-7317-44BB-8C51-388B42C4D928}" srcOrd="0" destOrd="0" parTransId="{C53EA144-8200-471F-BA21-785A58F85148}" sibTransId="{D3065B49-09D0-4B77-95D5-916921C618F0}"/>
    <dgm:cxn modelId="{A6F3218D-0CBD-44BD-AE02-5B1138C62B50}" type="presParOf" srcId="{30729138-A724-4E6E-910A-A7C78C269CD2}" destId="{C006AA54-5FC8-495A-9241-D191C5A77604}" srcOrd="0" destOrd="0" presId="urn:microsoft.com/office/officeart/2005/8/layout/vList5"/>
    <dgm:cxn modelId="{2CB5BDA6-34CC-4F32-8B75-626D81236045}" type="presParOf" srcId="{C006AA54-5FC8-495A-9241-D191C5A77604}" destId="{2BE750FC-32B6-41B9-9176-44A31600D6C3}" srcOrd="0" destOrd="0" presId="urn:microsoft.com/office/officeart/2005/8/layout/vList5"/>
    <dgm:cxn modelId="{E1D0E66B-15A5-4D7D-8641-FAE3D799A442}" type="presParOf" srcId="{C006AA54-5FC8-495A-9241-D191C5A77604}" destId="{25AE81B6-325E-4356-8202-1E042C8F82D0}" srcOrd="1" destOrd="0" presId="urn:microsoft.com/office/officeart/2005/8/layout/vList5"/>
    <dgm:cxn modelId="{E07AA840-B422-49B0-A1F2-42316701F2AC}" type="presParOf" srcId="{30729138-A724-4E6E-910A-A7C78C269CD2}" destId="{AB17FDB2-142C-4D71-8FC5-3751190CEA20}" srcOrd="1" destOrd="0" presId="urn:microsoft.com/office/officeart/2005/8/layout/vList5"/>
    <dgm:cxn modelId="{AA65DC37-AFB1-4A9A-BAAF-233169AD0A40}" type="presParOf" srcId="{30729138-A724-4E6E-910A-A7C78C269CD2}" destId="{C9FE039D-EA28-40D1-B1A5-232F12A11A11}" srcOrd="2" destOrd="0" presId="urn:microsoft.com/office/officeart/2005/8/layout/vList5"/>
    <dgm:cxn modelId="{C42604FE-1E96-49DA-B544-6CBAE1371F8F}" type="presParOf" srcId="{C9FE039D-EA28-40D1-B1A5-232F12A11A11}" destId="{4FABC2E4-FAE1-4A59-9812-93C979B59FD3}" srcOrd="0" destOrd="0" presId="urn:microsoft.com/office/officeart/2005/8/layout/vList5"/>
    <dgm:cxn modelId="{B7352503-D54E-46D8-9E07-2EC5F85414EA}" type="presParOf" srcId="{C9FE039D-EA28-40D1-B1A5-232F12A11A11}" destId="{64087FE3-29C1-496B-87B2-715DBD8B648C}" srcOrd="1" destOrd="0" presId="urn:microsoft.com/office/officeart/2005/8/layout/vList5"/>
    <dgm:cxn modelId="{EEEE1649-545F-4275-B6FB-3523F0906501}" type="presParOf" srcId="{30729138-A724-4E6E-910A-A7C78C269CD2}" destId="{1B0C04AC-DA60-4AB8-88FE-9AAECEAC8EE4}" srcOrd="3" destOrd="0" presId="urn:microsoft.com/office/officeart/2005/8/layout/vList5"/>
    <dgm:cxn modelId="{9062B8EB-64CF-4FB8-A67B-5D34A499EA2B}" type="presParOf" srcId="{30729138-A724-4E6E-910A-A7C78C269CD2}" destId="{6E919846-ED80-453A-BB12-FBDBF63EB825}" srcOrd="4" destOrd="0" presId="urn:microsoft.com/office/officeart/2005/8/layout/vList5"/>
    <dgm:cxn modelId="{7F0C9D30-76B5-4260-8E27-5A89DC8BD4E8}" type="presParOf" srcId="{6E919846-ED80-453A-BB12-FBDBF63EB825}" destId="{F295EF93-B577-4C3C-AFBA-779F9236214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5C959E-6FD6-4B16-983D-3A27AD1C2784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E5F18E3A-2B7A-403E-8003-2B22394DE1D0}">
      <dgm:prSet/>
      <dgm:spPr/>
      <dgm:t>
        <a:bodyPr/>
        <a:lstStyle/>
        <a:p>
          <a:pPr rtl="0"/>
          <a:r>
            <a:rPr lang="en-IN"/>
            <a:t>Example</a:t>
          </a:r>
          <a:endParaRPr lang="en-US"/>
        </a:p>
      </dgm:t>
    </dgm:pt>
    <dgm:pt modelId="{BF1F29AA-534F-4BF5-953A-F6858FBAFD2D}" type="parTrans" cxnId="{09D99266-2F73-4A48-9383-380BAEFFCDEB}">
      <dgm:prSet/>
      <dgm:spPr/>
      <dgm:t>
        <a:bodyPr/>
        <a:lstStyle/>
        <a:p>
          <a:endParaRPr lang="en-US"/>
        </a:p>
      </dgm:t>
    </dgm:pt>
    <dgm:pt modelId="{2F59DC1A-824E-4EE6-9C0B-3262C9D7DAE4}" type="sibTrans" cxnId="{09D99266-2F73-4A48-9383-380BAEFFCDEB}">
      <dgm:prSet/>
      <dgm:spPr/>
      <dgm:t>
        <a:bodyPr/>
        <a:lstStyle/>
        <a:p>
          <a:endParaRPr lang="en-US"/>
        </a:p>
      </dgm:t>
    </dgm:pt>
    <dgm:pt modelId="{47A116DE-AADA-4E0D-A2AC-A8A678CC0135}">
      <dgm:prSet/>
      <dgm:spPr/>
      <dgm:t>
        <a:bodyPr/>
        <a:lstStyle/>
        <a:p>
          <a:pPr rtl="0"/>
          <a:r>
            <a:rPr lang="en-IN" dirty="0"/>
            <a:t>Suppose a </a:t>
          </a:r>
          <a:r>
            <a:rPr lang="en-IN" dirty="0" err="1"/>
            <a:t>db</a:t>
          </a:r>
          <a:r>
            <a:rPr lang="en-IN" dirty="0"/>
            <a:t> query is to be made by app</a:t>
          </a:r>
          <a:endParaRPr lang="en-US" dirty="0"/>
        </a:p>
      </dgm:t>
    </dgm:pt>
    <dgm:pt modelId="{128D2F5B-3ED0-4874-85BD-CF824AAEC978}" type="parTrans" cxnId="{F1866574-E12A-4BF9-84EB-C06DB73183AA}">
      <dgm:prSet/>
      <dgm:spPr/>
      <dgm:t>
        <a:bodyPr/>
        <a:lstStyle/>
        <a:p>
          <a:endParaRPr lang="en-US"/>
        </a:p>
      </dgm:t>
    </dgm:pt>
    <dgm:pt modelId="{2A8E5F50-92DC-4CB0-A1C1-8333CC5950DB}" type="sibTrans" cxnId="{F1866574-E12A-4BF9-84EB-C06DB73183AA}">
      <dgm:prSet/>
      <dgm:spPr/>
      <dgm:t>
        <a:bodyPr/>
        <a:lstStyle/>
        <a:p>
          <a:endParaRPr lang="en-US"/>
        </a:p>
      </dgm:t>
    </dgm:pt>
    <dgm:pt modelId="{9862E79C-687F-40D5-8FF9-08EF74A9B53A}">
      <dgm:prSet/>
      <dgm:spPr/>
      <dgm:t>
        <a:bodyPr/>
        <a:lstStyle/>
        <a:p>
          <a:pPr rtl="0"/>
          <a:r>
            <a:rPr lang="en-IN"/>
            <a:t>Why not do this in web role?</a:t>
          </a:r>
          <a:endParaRPr lang="en-US"/>
        </a:p>
      </dgm:t>
    </dgm:pt>
    <dgm:pt modelId="{373FBE5D-8E89-4A21-B70C-5B07D4A7CB74}" type="parTrans" cxnId="{D80CC94C-B997-48B7-84C4-A04CD3B3303A}">
      <dgm:prSet/>
      <dgm:spPr/>
      <dgm:t>
        <a:bodyPr/>
        <a:lstStyle/>
        <a:p>
          <a:endParaRPr lang="en-US"/>
        </a:p>
      </dgm:t>
    </dgm:pt>
    <dgm:pt modelId="{6E9F0544-0721-40AC-8817-2459C13F6935}" type="sibTrans" cxnId="{D80CC94C-B997-48B7-84C4-A04CD3B3303A}">
      <dgm:prSet/>
      <dgm:spPr/>
      <dgm:t>
        <a:bodyPr/>
        <a:lstStyle/>
        <a:p>
          <a:endParaRPr lang="en-US"/>
        </a:p>
      </dgm:t>
    </dgm:pt>
    <dgm:pt modelId="{46746170-4636-4D8B-B48B-DF527C99C58C}">
      <dgm:prSet/>
      <dgm:spPr/>
      <dgm:t>
        <a:bodyPr/>
        <a:lstStyle/>
        <a:p>
          <a:pPr rtl="0"/>
          <a:r>
            <a:rPr lang="en-IN" dirty="0"/>
            <a:t>Worker role</a:t>
          </a:r>
          <a:endParaRPr lang="en-US" dirty="0"/>
        </a:p>
      </dgm:t>
    </dgm:pt>
    <dgm:pt modelId="{19B80435-E2FD-43FA-902D-1F13AFEFD689}" type="parTrans" cxnId="{2E734659-C1B0-45D5-A633-E5926FD5E149}">
      <dgm:prSet/>
      <dgm:spPr/>
      <dgm:t>
        <a:bodyPr/>
        <a:lstStyle/>
        <a:p>
          <a:endParaRPr lang="en-US"/>
        </a:p>
      </dgm:t>
    </dgm:pt>
    <dgm:pt modelId="{FDA0B842-C4CD-4475-AE29-CB2FA37F210A}" type="sibTrans" cxnId="{2E734659-C1B0-45D5-A633-E5926FD5E149}">
      <dgm:prSet/>
      <dgm:spPr/>
      <dgm:t>
        <a:bodyPr/>
        <a:lstStyle/>
        <a:p>
          <a:endParaRPr lang="en-US"/>
        </a:p>
      </dgm:t>
    </dgm:pt>
    <dgm:pt modelId="{BC799AC2-A8C4-4AE1-ABE4-E4C72313941F}">
      <dgm:prSet/>
      <dgm:spPr/>
      <dgm:t>
        <a:bodyPr/>
        <a:lstStyle/>
        <a:p>
          <a:pPr rtl="0"/>
          <a:r>
            <a:rPr lang="en-IN"/>
            <a:t>Intended to be used for </a:t>
          </a:r>
          <a:r>
            <a:rPr lang="en-IN" i="1"/>
            <a:t>long-running </a:t>
          </a:r>
          <a:r>
            <a:rPr lang="en-IN"/>
            <a:t>or </a:t>
          </a:r>
          <a:r>
            <a:rPr lang="en-IN" i="1"/>
            <a:t>asynchronous </a:t>
          </a:r>
          <a:r>
            <a:rPr lang="en-IN"/>
            <a:t>operations</a:t>
          </a:r>
          <a:endParaRPr lang="en-US"/>
        </a:p>
      </dgm:t>
    </dgm:pt>
    <dgm:pt modelId="{23D1355C-9205-408E-B171-62D1554CDA3D}" type="parTrans" cxnId="{C10CEA7C-0E71-4FE5-B475-1AC8172BA3C3}">
      <dgm:prSet/>
      <dgm:spPr/>
      <dgm:t>
        <a:bodyPr/>
        <a:lstStyle/>
        <a:p>
          <a:endParaRPr lang="en-US"/>
        </a:p>
      </dgm:t>
    </dgm:pt>
    <dgm:pt modelId="{78F9CA2C-8CCD-4F6A-92F8-85848370264E}" type="sibTrans" cxnId="{C10CEA7C-0E71-4FE5-B475-1AC8172BA3C3}">
      <dgm:prSet/>
      <dgm:spPr/>
      <dgm:t>
        <a:bodyPr/>
        <a:lstStyle/>
        <a:p>
          <a:endParaRPr lang="en-US"/>
        </a:p>
      </dgm:t>
    </dgm:pt>
    <dgm:pt modelId="{D0B1CD16-B888-479C-82A4-E7D798F59466}">
      <dgm:prSet/>
      <dgm:spPr/>
      <dgm:t>
        <a:bodyPr/>
        <a:lstStyle/>
        <a:p>
          <a:pPr rtl="0"/>
          <a:r>
            <a:rPr lang="en-IN"/>
            <a:t>Not good to have long running operations executed synchronously in Web role</a:t>
          </a:r>
          <a:endParaRPr lang="en-US"/>
        </a:p>
      </dgm:t>
    </dgm:pt>
    <dgm:pt modelId="{B7168820-9791-4DB5-808E-DA9C411349B8}" type="parTrans" cxnId="{C7328430-D05E-4B21-BB35-53EDE133B61A}">
      <dgm:prSet/>
      <dgm:spPr/>
      <dgm:t>
        <a:bodyPr/>
        <a:lstStyle/>
        <a:p>
          <a:endParaRPr lang="en-US"/>
        </a:p>
      </dgm:t>
    </dgm:pt>
    <dgm:pt modelId="{85D1DE13-289F-40A8-8928-C8CBA2C4D32C}" type="sibTrans" cxnId="{C7328430-D05E-4B21-BB35-53EDE133B61A}">
      <dgm:prSet/>
      <dgm:spPr/>
      <dgm:t>
        <a:bodyPr/>
        <a:lstStyle/>
        <a:p>
          <a:endParaRPr lang="en-US"/>
        </a:p>
      </dgm:t>
    </dgm:pt>
    <dgm:pt modelId="{997191AA-9780-46DD-A95C-56B8F5516B50}">
      <dgm:prSet/>
      <dgm:spPr/>
      <dgm:t>
        <a:bodyPr/>
        <a:lstStyle/>
        <a:p>
          <a:pPr rtl="0"/>
          <a:r>
            <a:rPr lang="en-IN"/>
            <a:t>Timeouts</a:t>
          </a:r>
          <a:endParaRPr lang="en-US"/>
        </a:p>
      </dgm:t>
    </dgm:pt>
    <dgm:pt modelId="{CE36835B-543A-466F-8AC2-EC17F2FB1B6A}" type="parTrans" cxnId="{D6D2A338-B65C-4DAB-BAC5-B76F953A07BD}">
      <dgm:prSet/>
      <dgm:spPr/>
      <dgm:t>
        <a:bodyPr/>
        <a:lstStyle/>
        <a:p>
          <a:endParaRPr lang="en-US"/>
        </a:p>
      </dgm:t>
    </dgm:pt>
    <dgm:pt modelId="{42BC263C-8EE3-4C34-B503-6019C53D159B}" type="sibTrans" cxnId="{D6D2A338-B65C-4DAB-BAC5-B76F953A07BD}">
      <dgm:prSet/>
      <dgm:spPr/>
      <dgm:t>
        <a:bodyPr/>
        <a:lstStyle/>
        <a:p>
          <a:endParaRPr lang="en-US"/>
        </a:p>
      </dgm:t>
    </dgm:pt>
    <dgm:pt modelId="{737787E2-B3F2-421D-848A-454241D852E6}">
      <dgm:prSet/>
      <dgm:spPr/>
      <dgm:t>
        <a:bodyPr/>
        <a:lstStyle/>
        <a:p>
          <a:pPr rtl="0"/>
          <a:r>
            <a:rPr lang="en-IN"/>
            <a:t>Application appears  to hang, user  may cancel</a:t>
          </a:r>
          <a:endParaRPr lang="en-US"/>
        </a:p>
      </dgm:t>
    </dgm:pt>
    <dgm:pt modelId="{DEE94150-9D21-4288-BE0D-BE474CDAA0AC}" type="parTrans" cxnId="{E559F9CC-B01D-4A89-8B4B-CC1411609F25}">
      <dgm:prSet/>
      <dgm:spPr/>
      <dgm:t>
        <a:bodyPr/>
        <a:lstStyle/>
        <a:p>
          <a:endParaRPr lang="en-US"/>
        </a:p>
      </dgm:t>
    </dgm:pt>
    <dgm:pt modelId="{F673BC92-CFC8-4AFF-9FFE-2423AD6016A1}" type="sibTrans" cxnId="{E559F9CC-B01D-4A89-8B4B-CC1411609F25}">
      <dgm:prSet/>
      <dgm:spPr/>
      <dgm:t>
        <a:bodyPr/>
        <a:lstStyle/>
        <a:p>
          <a:endParaRPr lang="en-US"/>
        </a:p>
      </dgm:t>
    </dgm:pt>
    <dgm:pt modelId="{BEA3095D-5E8B-4AD9-9406-6254AA661314}" type="pres">
      <dgm:prSet presAssocID="{065C959E-6FD6-4B16-983D-3A27AD1C2784}" presName="linear" presStyleCnt="0">
        <dgm:presLayoutVars>
          <dgm:animLvl val="lvl"/>
          <dgm:resizeHandles val="exact"/>
        </dgm:presLayoutVars>
      </dgm:prSet>
      <dgm:spPr/>
    </dgm:pt>
    <dgm:pt modelId="{FB10692B-7995-4071-8F14-C58F7604D8D8}" type="pres">
      <dgm:prSet presAssocID="{E5F18E3A-2B7A-403E-8003-2B22394DE1D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5CFFAF6-7A5E-4B47-9B68-7973C4A5A161}" type="pres">
      <dgm:prSet presAssocID="{E5F18E3A-2B7A-403E-8003-2B22394DE1D0}" presName="childText" presStyleLbl="revTx" presStyleIdx="0" presStyleCnt="2">
        <dgm:presLayoutVars>
          <dgm:bulletEnabled val="1"/>
        </dgm:presLayoutVars>
      </dgm:prSet>
      <dgm:spPr/>
    </dgm:pt>
    <dgm:pt modelId="{8BDE4404-C681-43C4-B6CA-B54834B75AAE}" type="pres">
      <dgm:prSet presAssocID="{46746170-4636-4D8B-B48B-DF527C99C58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6C0E940-2FFB-420B-81F2-EEF7E96057C9}" type="pres">
      <dgm:prSet presAssocID="{46746170-4636-4D8B-B48B-DF527C99C58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7328430-D05E-4B21-BB35-53EDE133B61A}" srcId="{46746170-4636-4D8B-B48B-DF527C99C58C}" destId="{D0B1CD16-B888-479C-82A4-E7D798F59466}" srcOrd="1" destOrd="0" parTransId="{B7168820-9791-4DB5-808E-DA9C411349B8}" sibTransId="{85D1DE13-289F-40A8-8928-C8CBA2C4D32C}"/>
    <dgm:cxn modelId="{D6D2A338-B65C-4DAB-BAC5-B76F953A07BD}" srcId="{D0B1CD16-B888-479C-82A4-E7D798F59466}" destId="{997191AA-9780-46DD-A95C-56B8F5516B50}" srcOrd="0" destOrd="0" parTransId="{CE36835B-543A-466F-8AC2-EC17F2FB1B6A}" sibTransId="{42BC263C-8EE3-4C34-B503-6019C53D159B}"/>
    <dgm:cxn modelId="{F6208C62-47F7-4661-8A1F-C3BB48A09BC3}" type="presOf" srcId="{9862E79C-687F-40D5-8FF9-08EF74A9B53A}" destId="{75CFFAF6-7A5E-4B47-9B68-7973C4A5A161}" srcOrd="0" destOrd="1" presId="urn:microsoft.com/office/officeart/2005/8/layout/vList2"/>
    <dgm:cxn modelId="{AFEDCF64-7DF8-42DD-BC65-64F6BD86079F}" type="presOf" srcId="{47A116DE-AADA-4E0D-A2AC-A8A678CC0135}" destId="{75CFFAF6-7A5E-4B47-9B68-7973C4A5A161}" srcOrd="0" destOrd="0" presId="urn:microsoft.com/office/officeart/2005/8/layout/vList2"/>
    <dgm:cxn modelId="{09D99266-2F73-4A48-9383-380BAEFFCDEB}" srcId="{065C959E-6FD6-4B16-983D-3A27AD1C2784}" destId="{E5F18E3A-2B7A-403E-8003-2B22394DE1D0}" srcOrd="0" destOrd="0" parTransId="{BF1F29AA-534F-4BF5-953A-F6858FBAFD2D}" sibTransId="{2F59DC1A-824E-4EE6-9C0B-3262C9D7DAE4}"/>
    <dgm:cxn modelId="{D80CC94C-B997-48B7-84C4-A04CD3B3303A}" srcId="{E5F18E3A-2B7A-403E-8003-2B22394DE1D0}" destId="{9862E79C-687F-40D5-8FF9-08EF74A9B53A}" srcOrd="1" destOrd="0" parTransId="{373FBE5D-8E89-4A21-B70C-5B07D4A7CB74}" sibTransId="{6E9F0544-0721-40AC-8817-2459C13F6935}"/>
    <dgm:cxn modelId="{F1866574-E12A-4BF9-84EB-C06DB73183AA}" srcId="{E5F18E3A-2B7A-403E-8003-2B22394DE1D0}" destId="{47A116DE-AADA-4E0D-A2AC-A8A678CC0135}" srcOrd="0" destOrd="0" parTransId="{128D2F5B-3ED0-4874-85BD-CF824AAEC978}" sibTransId="{2A8E5F50-92DC-4CB0-A1C1-8333CC5950DB}"/>
    <dgm:cxn modelId="{FAE9C474-CADE-4F90-A0F4-6225EC76F79E}" type="presOf" srcId="{D0B1CD16-B888-479C-82A4-E7D798F59466}" destId="{26C0E940-2FFB-420B-81F2-EEF7E96057C9}" srcOrd="0" destOrd="1" presId="urn:microsoft.com/office/officeart/2005/8/layout/vList2"/>
    <dgm:cxn modelId="{2E734659-C1B0-45D5-A633-E5926FD5E149}" srcId="{065C959E-6FD6-4B16-983D-3A27AD1C2784}" destId="{46746170-4636-4D8B-B48B-DF527C99C58C}" srcOrd="1" destOrd="0" parTransId="{19B80435-E2FD-43FA-902D-1F13AFEFD689}" sibTransId="{FDA0B842-C4CD-4475-AE29-CB2FA37F210A}"/>
    <dgm:cxn modelId="{67FEF459-BC54-4FFA-BA8F-CB1F2286FE9F}" type="presOf" srcId="{737787E2-B3F2-421D-848A-454241D852E6}" destId="{26C0E940-2FFB-420B-81F2-EEF7E96057C9}" srcOrd="0" destOrd="3" presId="urn:microsoft.com/office/officeart/2005/8/layout/vList2"/>
    <dgm:cxn modelId="{C10CEA7C-0E71-4FE5-B475-1AC8172BA3C3}" srcId="{46746170-4636-4D8B-B48B-DF527C99C58C}" destId="{BC799AC2-A8C4-4AE1-ABE4-E4C72313941F}" srcOrd="0" destOrd="0" parTransId="{23D1355C-9205-408E-B171-62D1554CDA3D}" sibTransId="{78F9CA2C-8CCD-4F6A-92F8-85848370264E}"/>
    <dgm:cxn modelId="{7EB72E7F-E6CB-4F78-868B-D174DB5AE3C9}" type="presOf" srcId="{997191AA-9780-46DD-A95C-56B8F5516B50}" destId="{26C0E940-2FFB-420B-81F2-EEF7E96057C9}" srcOrd="0" destOrd="2" presId="urn:microsoft.com/office/officeart/2005/8/layout/vList2"/>
    <dgm:cxn modelId="{475384A5-200F-4F1A-9F69-05D3F8E52BE6}" type="presOf" srcId="{E5F18E3A-2B7A-403E-8003-2B22394DE1D0}" destId="{FB10692B-7995-4071-8F14-C58F7604D8D8}" srcOrd="0" destOrd="0" presId="urn:microsoft.com/office/officeart/2005/8/layout/vList2"/>
    <dgm:cxn modelId="{E559F9CC-B01D-4A89-8B4B-CC1411609F25}" srcId="{D0B1CD16-B888-479C-82A4-E7D798F59466}" destId="{737787E2-B3F2-421D-848A-454241D852E6}" srcOrd="1" destOrd="0" parTransId="{DEE94150-9D21-4288-BE0D-BE474CDAA0AC}" sibTransId="{F673BC92-CFC8-4AFF-9FFE-2423AD6016A1}"/>
    <dgm:cxn modelId="{938F55E5-9FA4-4D9B-9B77-C6EF57716B7D}" type="presOf" srcId="{BC799AC2-A8C4-4AE1-ABE4-E4C72313941F}" destId="{26C0E940-2FFB-420B-81F2-EEF7E96057C9}" srcOrd="0" destOrd="0" presId="urn:microsoft.com/office/officeart/2005/8/layout/vList2"/>
    <dgm:cxn modelId="{3A1057E5-C2B9-4CA0-A6C9-6E575715B887}" type="presOf" srcId="{46746170-4636-4D8B-B48B-DF527C99C58C}" destId="{8BDE4404-C681-43C4-B6CA-B54834B75AAE}" srcOrd="0" destOrd="0" presId="urn:microsoft.com/office/officeart/2005/8/layout/vList2"/>
    <dgm:cxn modelId="{9281ECF3-D9CE-45F3-BC43-2362767E3999}" type="presOf" srcId="{065C959E-6FD6-4B16-983D-3A27AD1C2784}" destId="{BEA3095D-5E8B-4AD9-9406-6254AA661314}" srcOrd="0" destOrd="0" presId="urn:microsoft.com/office/officeart/2005/8/layout/vList2"/>
    <dgm:cxn modelId="{79E54974-801A-4E16-B990-41946D50D5B2}" type="presParOf" srcId="{BEA3095D-5E8B-4AD9-9406-6254AA661314}" destId="{FB10692B-7995-4071-8F14-C58F7604D8D8}" srcOrd="0" destOrd="0" presId="urn:microsoft.com/office/officeart/2005/8/layout/vList2"/>
    <dgm:cxn modelId="{0EE75B5D-C007-4A5C-B3E4-B079A42E5222}" type="presParOf" srcId="{BEA3095D-5E8B-4AD9-9406-6254AA661314}" destId="{75CFFAF6-7A5E-4B47-9B68-7973C4A5A161}" srcOrd="1" destOrd="0" presId="urn:microsoft.com/office/officeart/2005/8/layout/vList2"/>
    <dgm:cxn modelId="{2B447E00-F246-4892-B13D-B5587EF8F7B0}" type="presParOf" srcId="{BEA3095D-5E8B-4AD9-9406-6254AA661314}" destId="{8BDE4404-C681-43C4-B6CA-B54834B75AAE}" srcOrd="2" destOrd="0" presId="urn:microsoft.com/office/officeart/2005/8/layout/vList2"/>
    <dgm:cxn modelId="{8C55BF62-1067-4B45-BA0E-B49CDD6CC447}" type="presParOf" srcId="{BEA3095D-5E8B-4AD9-9406-6254AA661314}" destId="{26C0E940-2FFB-420B-81F2-EEF7E96057C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33D06E-E3E9-483A-93D8-47B5D6C6C17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788D12B-5456-492B-9D30-AE8F3161849C}">
      <dgm:prSet/>
      <dgm:spPr/>
      <dgm:t>
        <a:bodyPr/>
        <a:lstStyle/>
        <a:p>
          <a:pPr rtl="0"/>
          <a:r>
            <a:rPr lang="en-US" dirty="0"/>
            <a:t>Distribute load among all the Web roles</a:t>
          </a:r>
        </a:p>
      </dgm:t>
    </dgm:pt>
    <dgm:pt modelId="{49E53CB0-ABBB-42B2-98FD-45E0B4918738}" type="parTrans" cxnId="{5E802E58-E54D-49EF-8B8B-0039B2E5D4F4}">
      <dgm:prSet/>
      <dgm:spPr/>
      <dgm:t>
        <a:bodyPr/>
        <a:lstStyle/>
        <a:p>
          <a:endParaRPr lang="en-US"/>
        </a:p>
      </dgm:t>
    </dgm:pt>
    <dgm:pt modelId="{A3D90153-CE48-4B8A-9E89-D6E4B368F86A}" type="sibTrans" cxnId="{5E802E58-E54D-49EF-8B8B-0039B2E5D4F4}">
      <dgm:prSet/>
      <dgm:spPr/>
      <dgm:t>
        <a:bodyPr/>
        <a:lstStyle/>
        <a:p>
          <a:endParaRPr lang="en-US"/>
        </a:p>
      </dgm:t>
    </dgm:pt>
    <dgm:pt modelId="{0E58C1A1-9349-4348-A1C6-C3345CFF60BF}">
      <dgm:prSet/>
      <dgm:spPr/>
      <dgm:t>
        <a:bodyPr/>
        <a:lstStyle/>
        <a:p>
          <a:pPr rtl="0"/>
          <a:r>
            <a:rPr lang="en-US" dirty="0"/>
            <a:t>Aware of scale up</a:t>
          </a:r>
        </a:p>
      </dgm:t>
    </dgm:pt>
    <dgm:pt modelId="{B293C592-A60B-44F2-83CF-63418EAABB09}" type="parTrans" cxnId="{5E3EFCA2-5393-4D4D-A88C-D3AA8EC08C70}">
      <dgm:prSet/>
      <dgm:spPr/>
      <dgm:t>
        <a:bodyPr/>
        <a:lstStyle/>
        <a:p>
          <a:endParaRPr lang="en-US"/>
        </a:p>
      </dgm:t>
    </dgm:pt>
    <dgm:pt modelId="{1A2321E7-BA0F-4131-B5D9-DC1114FA22C8}" type="sibTrans" cxnId="{5E3EFCA2-5393-4D4D-A88C-D3AA8EC08C70}">
      <dgm:prSet/>
      <dgm:spPr/>
      <dgm:t>
        <a:bodyPr/>
        <a:lstStyle/>
        <a:p>
          <a:endParaRPr lang="en-US"/>
        </a:p>
      </dgm:t>
    </dgm:pt>
    <dgm:pt modelId="{A7B5A762-0506-4384-8815-852DB3B31167}">
      <dgm:prSet/>
      <dgm:spPr/>
      <dgm:t>
        <a:bodyPr/>
        <a:lstStyle/>
        <a:p>
          <a:pPr rtl="0"/>
          <a:r>
            <a:rPr lang="en-US" dirty="0"/>
            <a:t>Aware of scale down</a:t>
          </a:r>
        </a:p>
      </dgm:t>
    </dgm:pt>
    <dgm:pt modelId="{1233066A-FDFD-4446-BC78-367813AD202A}" type="parTrans" cxnId="{F92F9E5B-C95C-4AE8-AB48-01EB65B45E49}">
      <dgm:prSet/>
      <dgm:spPr/>
      <dgm:t>
        <a:bodyPr/>
        <a:lstStyle/>
        <a:p>
          <a:endParaRPr lang="en-US"/>
        </a:p>
      </dgm:t>
    </dgm:pt>
    <dgm:pt modelId="{06D91D36-DC7B-4E60-9BFA-815FF8F05DB5}" type="sibTrans" cxnId="{F92F9E5B-C95C-4AE8-AB48-01EB65B45E49}">
      <dgm:prSet/>
      <dgm:spPr/>
      <dgm:t>
        <a:bodyPr/>
        <a:lstStyle/>
        <a:p>
          <a:endParaRPr lang="en-US"/>
        </a:p>
      </dgm:t>
    </dgm:pt>
    <dgm:pt modelId="{93CCA9AF-83C5-44DB-9692-264D0DB8B77B}">
      <dgm:prSet/>
      <dgm:spPr/>
      <dgm:t>
        <a:bodyPr/>
        <a:lstStyle/>
        <a:p>
          <a:pPr rtl="0"/>
          <a:r>
            <a:rPr lang="en-US" dirty="0"/>
            <a:t>Service monitoring - Probe types</a:t>
          </a:r>
        </a:p>
      </dgm:t>
    </dgm:pt>
    <dgm:pt modelId="{F2451B88-2F6A-47B0-9DCF-0118ECC6F828}" type="parTrans" cxnId="{D97430D9-9A50-4450-92C5-B0BE11A2D635}">
      <dgm:prSet/>
      <dgm:spPr/>
      <dgm:t>
        <a:bodyPr/>
        <a:lstStyle/>
        <a:p>
          <a:endParaRPr lang="en-US"/>
        </a:p>
      </dgm:t>
    </dgm:pt>
    <dgm:pt modelId="{29F4BF38-4470-4B88-ACF2-B71200BA96E1}" type="sibTrans" cxnId="{D97430D9-9A50-4450-92C5-B0BE11A2D635}">
      <dgm:prSet/>
      <dgm:spPr/>
      <dgm:t>
        <a:bodyPr/>
        <a:lstStyle/>
        <a:p>
          <a:endParaRPr lang="en-US"/>
        </a:p>
      </dgm:t>
    </dgm:pt>
    <dgm:pt modelId="{5A829DB9-50BD-4E32-870C-413452353B14}">
      <dgm:prSet/>
      <dgm:spPr/>
      <dgm:t>
        <a:bodyPr/>
        <a:lstStyle/>
        <a:p>
          <a:pPr rtl="0"/>
          <a:r>
            <a:rPr lang="en-US"/>
            <a:t>Guest agent: call some API in Web role</a:t>
          </a:r>
        </a:p>
      </dgm:t>
    </dgm:pt>
    <dgm:pt modelId="{EC86F6D8-80CA-4C2F-802A-E94A9FF32824}" type="parTrans" cxnId="{D72A3F46-9C45-41C5-803A-14566D0E57A9}">
      <dgm:prSet/>
      <dgm:spPr/>
      <dgm:t>
        <a:bodyPr/>
        <a:lstStyle/>
        <a:p>
          <a:endParaRPr lang="en-US"/>
        </a:p>
      </dgm:t>
    </dgm:pt>
    <dgm:pt modelId="{63B39075-3632-49DA-9033-30168FC017C5}" type="sibTrans" cxnId="{D72A3F46-9C45-41C5-803A-14566D0E57A9}">
      <dgm:prSet/>
      <dgm:spPr/>
      <dgm:t>
        <a:bodyPr/>
        <a:lstStyle/>
        <a:p>
          <a:endParaRPr lang="en-US"/>
        </a:p>
      </dgm:t>
    </dgm:pt>
    <dgm:pt modelId="{F21EB2DA-9C88-4ADB-BD92-E930CDF3474E}">
      <dgm:prSet/>
      <dgm:spPr/>
      <dgm:t>
        <a:bodyPr/>
        <a:lstStyle/>
        <a:p>
          <a:pPr rtl="0"/>
          <a:r>
            <a:rPr lang="en-US"/>
            <a:t>HTTP</a:t>
          </a:r>
        </a:p>
      </dgm:t>
    </dgm:pt>
    <dgm:pt modelId="{68C1CC64-B172-4FB8-9DF5-891E47683B50}" type="parTrans" cxnId="{4E54EE49-FBEF-4777-BED5-B569C1C642DA}">
      <dgm:prSet/>
      <dgm:spPr/>
      <dgm:t>
        <a:bodyPr/>
        <a:lstStyle/>
        <a:p>
          <a:endParaRPr lang="en-US"/>
        </a:p>
      </dgm:t>
    </dgm:pt>
    <dgm:pt modelId="{B1BC7264-3B07-4608-94BF-E81E9825546A}" type="sibTrans" cxnId="{4E54EE49-FBEF-4777-BED5-B569C1C642DA}">
      <dgm:prSet/>
      <dgm:spPr/>
      <dgm:t>
        <a:bodyPr/>
        <a:lstStyle/>
        <a:p>
          <a:endParaRPr lang="en-US"/>
        </a:p>
      </dgm:t>
    </dgm:pt>
    <dgm:pt modelId="{50DD6432-7EAC-4E79-ACC7-0AFB7DABC2C2}">
      <dgm:prSet/>
      <dgm:spPr/>
      <dgm:t>
        <a:bodyPr/>
        <a:lstStyle/>
        <a:p>
          <a:pPr rtl="0"/>
          <a:r>
            <a:rPr lang="en-US"/>
            <a:t>TCP</a:t>
          </a:r>
        </a:p>
      </dgm:t>
    </dgm:pt>
    <dgm:pt modelId="{67C95169-32A5-4CD7-9F7D-58D1249430CE}" type="parTrans" cxnId="{3EE8EDBB-E370-4AAF-BC73-F2D8FD17AB03}">
      <dgm:prSet/>
      <dgm:spPr/>
      <dgm:t>
        <a:bodyPr/>
        <a:lstStyle/>
        <a:p>
          <a:endParaRPr lang="en-US"/>
        </a:p>
      </dgm:t>
    </dgm:pt>
    <dgm:pt modelId="{276605A4-073D-4FA8-A2BA-2F195466DAF2}" type="sibTrans" cxnId="{3EE8EDBB-E370-4AAF-BC73-F2D8FD17AB03}">
      <dgm:prSet/>
      <dgm:spPr/>
      <dgm:t>
        <a:bodyPr/>
        <a:lstStyle/>
        <a:p>
          <a:endParaRPr lang="en-US"/>
        </a:p>
      </dgm:t>
    </dgm:pt>
    <dgm:pt modelId="{EDD0D427-A001-428F-94EE-489B19C510AC}">
      <dgm:prSet/>
      <dgm:spPr/>
      <dgm:t>
        <a:bodyPr/>
        <a:lstStyle/>
        <a:p>
          <a:pPr rtl="0"/>
          <a:r>
            <a:rPr lang="en-US" dirty="0"/>
            <a:t>Both host and port selection</a:t>
          </a:r>
        </a:p>
      </dgm:t>
    </dgm:pt>
    <dgm:pt modelId="{A18CCB85-6E4E-4258-8250-676F7D993ADD}" type="parTrans" cxnId="{53A41A5E-402C-457A-930F-74C56BB75385}">
      <dgm:prSet/>
      <dgm:spPr/>
      <dgm:t>
        <a:bodyPr/>
        <a:lstStyle/>
        <a:p>
          <a:endParaRPr lang="en-US"/>
        </a:p>
      </dgm:t>
    </dgm:pt>
    <dgm:pt modelId="{5DB9BBB3-5444-408C-A376-EB797272F325}" type="sibTrans" cxnId="{53A41A5E-402C-457A-930F-74C56BB75385}">
      <dgm:prSet/>
      <dgm:spPr/>
      <dgm:t>
        <a:bodyPr/>
        <a:lstStyle/>
        <a:p>
          <a:endParaRPr lang="en-US"/>
        </a:p>
      </dgm:t>
    </dgm:pt>
    <dgm:pt modelId="{301D100E-0466-48B8-9562-5C7CE82BAF73}" type="pres">
      <dgm:prSet presAssocID="{1C33D06E-E3E9-483A-93D8-47B5D6C6C176}" presName="linear" presStyleCnt="0">
        <dgm:presLayoutVars>
          <dgm:animLvl val="lvl"/>
          <dgm:resizeHandles val="exact"/>
        </dgm:presLayoutVars>
      </dgm:prSet>
      <dgm:spPr/>
    </dgm:pt>
    <dgm:pt modelId="{5ACBDA09-7BC7-43D1-963D-AD436C3F215D}" type="pres">
      <dgm:prSet presAssocID="{B788D12B-5456-492B-9D30-AE8F3161849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C662CC3-C804-4F02-A840-A91D400F7575}" type="pres">
      <dgm:prSet presAssocID="{B788D12B-5456-492B-9D30-AE8F3161849C}" presName="childText" presStyleLbl="revTx" presStyleIdx="0" presStyleCnt="2">
        <dgm:presLayoutVars>
          <dgm:bulletEnabled val="1"/>
        </dgm:presLayoutVars>
      </dgm:prSet>
      <dgm:spPr/>
    </dgm:pt>
    <dgm:pt modelId="{F64EB36E-088F-42F1-8A9F-0A269A6D57A0}" type="pres">
      <dgm:prSet presAssocID="{93CCA9AF-83C5-44DB-9692-264D0DB8B77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06733FB-2C4C-45B4-AD3B-2801A22E1A0E}" type="pres">
      <dgm:prSet presAssocID="{93CCA9AF-83C5-44DB-9692-264D0DB8B77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845AD31-D64E-4176-B80E-9CA1BEFFE8ED}" type="presOf" srcId="{B788D12B-5456-492B-9D30-AE8F3161849C}" destId="{5ACBDA09-7BC7-43D1-963D-AD436C3F215D}" srcOrd="0" destOrd="0" presId="urn:microsoft.com/office/officeart/2005/8/layout/vList2"/>
    <dgm:cxn modelId="{9B76963B-DA2C-450E-B65F-264C37D72C64}" type="presOf" srcId="{1C33D06E-E3E9-483A-93D8-47B5D6C6C176}" destId="{301D100E-0466-48B8-9562-5C7CE82BAF73}" srcOrd="0" destOrd="0" presId="urn:microsoft.com/office/officeart/2005/8/layout/vList2"/>
    <dgm:cxn modelId="{26BBA83C-2C8C-4129-B569-359433A03793}" type="presOf" srcId="{50DD6432-7EAC-4E79-ACC7-0AFB7DABC2C2}" destId="{606733FB-2C4C-45B4-AD3B-2801A22E1A0E}" srcOrd="0" destOrd="2" presId="urn:microsoft.com/office/officeart/2005/8/layout/vList2"/>
    <dgm:cxn modelId="{DB1CA740-123A-4E9F-95FE-A6BD4007A642}" type="presOf" srcId="{EDD0D427-A001-428F-94EE-489B19C510AC}" destId="{9C662CC3-C804-4F02-A840-A91D400F7575}" srcOrd="0" destOrd="2" presId="urn:microsoft.com/office/officeart/2005/8/layout/vList2"/>
    <dgm:cxn modelId="{F92F9E5B-C95C-4AE8-AB48-01EB65B45E49}" srcId="{B788D12B-5456-492B-9D30-AE8F3161849C}" destId="{A7B5A762-0506-4384-8815-852DB3B31167}" srcOrd="1" destOrd="0" parTransId="{1233066A-FDFD-4446-BC78-367813AD202A}" sibTransId="{06D91D36-DC7B-4E60-9BFA-815FF8F05DB5}"/>
    <dgm:cxn modelId="{53A41A5E-402C-457A-930F-74C56BB75385}" srcId="{B788D12B-5456-492B-9D30-AE8F3161849C}" destId="{EDD0D427-A001-428F-94EE-489B19C510AC}" srcOrd="2" destOrd="0" parTransId="{A18CCB85-6E4E-4258-8250-676F7D993ADD}" sibTransId="{5DB9BBB3-5444-408C-A376-EB797272F325}"/>
    <dgm:cxn modelId="{D72A3F46-9C45-41C5-803A-14566D0E57A9}" srcId="{93CCA9AF-83C5-44DB-9692-264D0DB8B77B}" destId="{5A829DB9-50BD-4E32-870C-413452353B14}" srcOrd="0" destOrd="0" parTransId="{EC86F6D8-80CA-4C2F-802A-E94A9FF32824}" sibTransId="{63B39075-3632-49DA-9033-30168FC017C5}"/>
    <dgm:cxn modelId="{4E54EE49-FBEF-4777-BED5-B569C1C642DA}" srcId="{93CCA9AF-83C5-44DB-9692-264D0DB8B77B}" destId="{F21EB2DA-9C88-4ADB-BD92-E930CDF3474E}" srcOrd="1" destOrd="0" parTransId="{68C1CC64-B172-4FB8-9DF5-891E47683B50}" sibTransId="{B1BC7264-3B07-4608-94BF-E81E9825546A}"/>
    <dgm:cxn modelId="{95CF3950-7FF5-4910-9522-D684871C5DD0}" type="presOf" srcId="{F21EB2DA-9C88-4ADB-BD92-E930CDF3474E}" destId="{606733FB-2C4C-45B4-AD3B-2801A22E1A0E}" srcOrd="0" destOrd="1" presId="urn:microsoft.com/office/officeart/2005/8/layout/vList2"/>
    <dgm:cxn modelId="{14FF0774-9A00-4A69-A62F-86B7FC394A28}" type="presOf" srcId="{5A829DB9-50BD-4E32-870C-413452353B14}" destId="{606733FB-2C4C-45B4-AD3B-2801A22E1A0E}" srcOrd="0" destOrd="0" presId="urn:microsoft.com/office/officeart/2005/8/layout/vList2"/>
    <dgm:cxn modelId="{4F852777-AF72-4DA8-9C56-0A5F531BB429}" type="presOf" srcId="{A7B5A762-0506-4384-8815-852DB3B31167}" destId="{9C662CC3-C804-4F02-A840-A91D400F7575}" srcOrd="0" destOrd="1" presId="urn:microsoft.com/office/officeart/2005/8/layout/vList2"/>
    <dgm:cxn modelId="{5E802E58-E54D-49EF-8B8B-0039B2E5D4F4}" srcId="{1C33D06E-E3E9-483A-93D8-47B5D6C6C176}" destId="{B788D12B-5456-492B-9D30-AE8F3161849C}" srcOrd="0" destOrd="0" parTransId="{49E53CB0-ABBB-42B2-98FD-45E0B4918738}" sibTransId="{A3D90153-CE48-4B8A-9E89-D6E4B368F86A}"/>
    <dgm:cxn modelId="{32572D9D-C684-4F52-82D7-24AD8BECA8C8}" type="presOf" srcId="{93CCA9AF-83C5-44DB-9692-264D0DB8B77B}" destId="{F64EB36E-088F-42F1-8A9F-0A269A6D57A0}" srcOrd="0" destOrd="0" presId="urn:microsoft.com/office/officeart/2005/8/layout/vList2"/>
    <dgm:cxn modelId="{5E3EFCA2-5393-4D4D-A88C-D3AA8EC08C70}" srcId="{B788D12B-5456-492B-9D30-AE8F3161849C}" destId="{0E58C1A1-9349-4348-A1C6-C3345CFF60BF}" srcOrd="0" destOrd="0" parTransId="{B293C592-A60B-44F2-83CF-63418EAABB09}" sibTransId="{1A2321E7-BA0F-4131-B5D9-DC1114FA22C8}"/>
    <dgm:cxn modelId="{3EE8EDBB-E370-4AAF-BC73-F2D8FD17AB03}" srcId="{93CCA9AF-83C5-44DB-9692-264D0DB8B77B}" destId="{50DD6432-7EAC-4E79-ACC7-0AFB7DABC2C2}" srcOrd="2" destOrd="0" parTransId="{67C95169-32A5-4CD7-9F7D-58D1249430CE}" sibTransId="{276605A4-073D-4FA8-A2BA-2F195466DAF2}"/>
    <dgm:cxn modelId="{D97430D9-9A50-4450-92C5-B0BE11A2D635}" srcId="{1C33D06E-E3E9-483A-93D8-47B5D6C6C176}" destId="{93CCA9AF-83C5-44DB-9692-264D0DB8B77B}" srcOrd="1" destOrd="0" parTransId="{F2451B88-2F6A-47B0-9DCF-0118ECC6F828}" sibTransId="{29F4BF38-4470-4B88-ACF2-B71200BA96E1}"/>
    <dgm:cxn modelId="{5D9220E2-BB81-4F4B-A408-19844F53C50E}" type="presOf" srcId="{0E58C1A1-9349-4348-A1C6-C3345CFF60BF}" destId="{9C662CC3-C804-4F02-A840-A91D400F7575}" srcOrd="0" destOrd="0" presId="urn:microsoft.com/office/officeart/2005/8/layout/vList2"/>
    <dgm:cxn modelId="{F8FF8751-94F8-4C2F-95E5-499424B47F42}" type="presParOf" srcId="{301D100E-0466-48B8-9562-5C7CE82BAF73}" destId="{5ACBDA09-7BC7-43D1-963D-AD436C3F215D}" srcOrd="0" destOrd="0" presId="urn:microsoft.com/office/officeart/2005/8/layout/vList2"/>
    <dgm:cxn modelId="{BF8D2E6C-604B-4A76-84E2-B0DCFD9F1664}" type="presParOf" srcId="{301D100E-0466-48B8-9562-5C7CE82BAF73}" destId="{9C662CC3-C804-4F02-A840-A91D400F7575}" srcOrd="1" destOrd="0" presId="urn:microsoft.com/office/officeart/2005/8/layout/vList2"/>
    <dgm:cxn modelId="{6C0215C5-D58C-45E7-806C-CDE90FD730F2}" type="presParOf" srcId="{301D100E-0466-48B8-9562-5C7CE82BAF73}" destId="{F64EB36E-088F-42F1-8A9F-0A269A6D57A0}" srcOrd="2" destOrd="0" presId="urn:microsoft.com/office/officeart/2005/8/layout/vList2"/>
    <dgm:cxn modelId="{AF70FC2C-762B-459D-9BDC-8FCB087AC42B}" type="presParOf" srcId="{301D100E-0466-48B8-9562-5C7CE82BAF73}" destId="{606733FB-2C4C-45B4-AD3B-2801A22E1A0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D6AE91-B71E-48C9-9873-D30B37B74FAB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AED202C8-75D7-4484-9ECB-9080DAAED29A}">
      <dgm:prSet/>
      <dgm:spPr/>
      <dgm:t>
        <a:bodyPr/>
        <a:lstStyle/>
        <a:p>
          <a:pPr rtl="0"/>
          <a:r>
            <a:rPr lang="en-US"/>
            <a:t>Stickiness within a single TCP session</a:t>
          </a:r>
        </a:p>
      </dgm:t>
    </dgm:pt>
    <dgm:pt modelId="{695FE303-0322-4735-87F5-559E3664603D}" type="parTrans" cxnId="{BFD8D459-6E7A-4F69-8F0C-2C4D97FE9BFB}">
      <dgm:prSet/>
      <dgm:spPr/>
      <dgm:t>
        <a:bodyPr/>
        <a:lstStyle/>
        <a:p>
          <a:endParaRPr lang="en-US"/>
        </a:p>
      </dgm:t>
    </dgm:pt>
    <dgm:pt modelId="{614F9942-E5CF-4CF9-BD21-97CADD5D6198}" type="sibTrans" cxnId="{BFD8D459-6E7A-4F69-8F0C-2C4D97FE9BFB}">
      <dgm:prSet/>
      <dgm:spPr/>
      <dgm:t>
        <a:bodyPr/>
        <a:lstStyle/>
        <a:p>
          <a:endParaRPr lang="en-US"/>
        </a:p>
      </dgm:t>
    </dgm:pt>
    <dgm:pt modelId="{983CFBC3-DFC2-4BA6-BEF6-CCC70FCD57D8}">
      <dgm:prSet/>
      <dgm:spPr/>
      <dgm:t>
        <a:bodyPr/>
        <a:lstStyle/>
        <a:p>
          <a:pPr rtl="0"/>
          <a:r>
            <a:rPr lang="en-US"/>
            <a:t>Public Endpoints </a:t>
          </a:r>
        </a:p>
      </dgm:t>
    </dgm:pt>
    <dgm:pt modelId="{2F78629D-17E1-46DD-89F0-FE89122D263F}" type="parTrans" cxnId="{595E4668-DD83-4241-8344-4EDE297C800C}">
      <dgm:prSet/>
      <dgm:spPr/>
      <dgm:t>
        <a:bodyPr/>
        <a:lstStyle/>
        <a:p>
          <a:endParaRPr lang="en-US"/>
        </a:p>
      </dgm:t>
    </dgm:pt>
    <dgm:pt modelId="{C37DD8A7-E542-479C-8006-7BEDD69C3105}" type="sibTrans" cxnId="{595E4668-DD83-4241-8344-4EDE297C800C}">
      <dgm:prSet/>
      <dgm:spPr/>
      <dgm:t>
        <a:bodyPr/>
        <a:lstStyle/>
        <a:p>
          <a:endParaRPr lang="en-US"/>
        </a:p>
      </dgm:t>
    </dgm:pt>
    <dgm:pt modelId="{AEC66CD6-9704-4E16-A39F-F813FF1A1C6E}">
      <dgm:prSet/>
      <dgm:spPr/>
      <dgm:t>
        <a:bodyPr/>
        <a:lstStyle/>
        <a:p>
          <a:pPr rtl="0"/>
          <a:r>
            <a:rPr lang="en-US"/>
            <a:t>Which listen to external requests.</a:t>
          </a:r>
        </a:p>
      </dgm:t>
    </dgm:pt>
    <dgm:pt modelId="{02B5E2B2-FEED-4663-8B5A-82950A89CC5B}" type="parTrans" cxnId="{01EF11A7-DE5B-4D8E-85DD-8340AD58F354}">
      <dgm:prSet/>
      <dgm:spPr/>
      <dgm:t>
        <a:bodyPr/>
        <a:lstStyle/>
        <a:p>
          <a:endParaRPr lang="en-US"/>
        </a:p>
      </dgm:t>
    </dgm:pt>
    <dgm:pt modelId="{72BF7357-2486-4352-831B-6821969F58A1}" type="sibTrans" cxnId="{01EF11A7-DE5B-4D8E-85DD-8340AD58F354}">
      <dgm:prSet/>
      <dgm:spPr/>
      <dgm:t>
        <a:bodyPr/>
        <a:lstStyle/>
        <a:p>
          <a:endParaRPr lang="en-US"/>
        </a:p>
      </dgm:t>
    </dgm:pt>
    <dgm:pt modelId="{95BF2C91-3AAF-4F24-9D20-33552811F9DF}" type="pres">
      <dgm:prSet presAssocID="{A2D6AE91-B71E-48C9-9873-D30B37B74FAB}" presName="linear" presStyleCnt="0">
        <dgm:presLayoutVars>
          <dgm:animLvl val="lvl"/>
          <dgm:resizeHandles val="exact"/>
        </dgm:presLayoutVars>
      </dgm:prSet>
      <dgm:spPr/>
    </dgm:pt>
    <dgm:pt modelId="{42E35290-9E52-4CAF-A62F-B757385345D2}" type="pres">
      <dgm:prSet presAssocID="{AED202C8-75D7-4484-9ECB-9080DAAED29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989469-0B16-4185-AB85-283EF8D921E3}" type="pres">
      <dgm:prSet presAssocID="{614F9942-E5CF-4CF9-BD21-97CADD5D6198}" presName="spacer" presStyleCnt="0"/>
      <dgm:spPr/>
    </dgm:pt>
    <dgm:pt modelId="{90390563-72E4-4B34-BE06-62DA8B3ACDDC}" type="pres">
      <dgm:prSet presAssocID="{983CFBC3-DFC2-4BA6-BEF6-CCC70FCD57D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736E106-DC3D-45AC-9289-750DDB49200E}" type="pres">
      <dgm:prSet presAssocID="{983CFBC3-DFC2-4BA6-BEF6-CCC70FCD57D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B88931B-DDF3-4E0E-9ADA-67EDF27AD79E}" type="presOf" srcId="{983CFBC3-DFC2-4BA6-BEF6-CCC70FCD57D8}" destId="{90390563-72E4-4B34-BE06-62DA8B3ACDDC}" srcOrd="0" destOrd="0" presId="urn:microsoft.com/office/officeart/2005/8/layout/vList2"/>
    <dgm:cxn modelId="{595E4668-DD83-4241-8344-4EDE297C800C}" srcId="{A2D6AE91-B71E-48C9-9873-D30B37B74FAB}" destId="{983CFBC3-DFC2-4BA6-BEF6-CCC70FCD57D8}" srcOrd="1" destOrd="0" parTransId="{2F78629D-17E1-46DD-89F0-FE89122D263F}" sibTransId="{C37DD8A7-E542-479C-8006-7BEDD69C3105}"/>
    <dgm:cxn modelId="{D04A5959-586C-4639-8AFB-03B7AE0FD4A1}" type="presOf" srcId="{AEC66CD6-9704-4E16-A39F-F813FF1A1C6E}" destId="{0736E106-DC3D-45AC-9289-750DDB49200E}" srcOrd="0" destOrd="0" presId="urn:microsoft.com/office/officeart/2005/8/layout/vList2"/>
    <dgm:cxn modelId="{BFD8D459-6E7A-4F69-8F0C-2C4D97FE9BFB}" srcId="{A2D6AE91-B71E-48C9-9873-D30B37B74FAB}" destId="{AED202C8-75D7-4484-9ECB-9080DAAED29A}" srcOrd="0" destOrd="0" parTransId="{695FE303-0322-4735-87F5-559E3664603D}" sibTransId="{614F9942-E5CF-4CF9-BD21-97CADD5D6198}"/>
    <dgm:cxn modelId="{01EF11A7-DE5B-4D8E-85DD-8340AD58F354}" srcId="{983CFBC3-DFC2-4BA6-BEF6-CCC70FCD57D8}" destId="{AEC66CD6-9704-4E16-A39F-F813FF1A1C6E}" srcOrd="0" destOrd="0" parTransId="{02B5E2B2-FEED-4663-8B5A-82950A89CC5B}" sibTransId="{72BF7357-2486-4352-831B-6821969F58A1}"/>
    <dgm:cxn modelId="{BC1ACDBA-70A5-4EDC-93BE-D6C44347BE7F}" type="presOf" srcId="{AED202C8-75D7-4484-9ECB-9080DAAED29A}" destId="{42E35290-9E52-4CAF-A62F-B757385345D2}" srcOrd="0" destOrd="0" presId="urn:microsoft.com/office/officeart/2005/8/layout/vList2"/>
    <dgm:cxn modelId="{88AD5AE0-4820-43DC-97BC-1419A4E43526}" type="presOf" srcId="{A2D6AE91-B71E-48C9-9873-D30B37B74FAB}" destId="{95BF2C91-3AAF-4F24-9D20-33552811F9DF}" srcOrd="0" destOrd="0" presId="urn:microsoft.com/office/officeart/2005/8/layout/vList2"/>
    <dgm:cxn modelId="{898F1E0C-2C24-4107-8EEB-12950289991F}" type="presParOf" srcId="{95BF2C91-3AAF-4F24-9D20-33552811F9DF}" destId="{42E35290-9E52-4CAF-A62F-B757385345D2}" srcOrd="0" destOrd="0" presId="urn:microsoft.com/office/officeart/2005/8/layout/vList2"/>
    <dgm:cxn modelId="{E8F00BB5-2DE4-4C4E-9AE5-E1CCDF0D5010}" type="presParOf" srcId="{95BF2C91-3AAF-4F24-9D20-33552811F9DF}" destId="{4B989469-0B16-4185-AB85-283EF8D921E3}" srcOrd="1" destOrd="0" presId="urn:microsoft.com/office/officeart/2005/8/layout/vList2"/>
    <dgm:cxn modelId="{DD18003D-16FE-45AB-BB35-2651F081D49E}" type="presParOf" srcId="{95BF2C91-3AAF-4F24-9D20-33552811F9DF}" destId="{90390563-72E4-4B34-BE06-62DA8B3ACDDC}" srcOrd="2" destOrd="0" presId="urn:microsoft.com/office/officeart/2005/8/layout/vList2"/>
    <dgm:cxn modelId="{6317EFE8-A037-4DA1-B5D0-7388DF32DCAB}" type="presParOf" srcId="{95BF2C91-3AAF-4F24-9D20-33552811F9DF}" destId="{0736E106-DC3D-45AC-9289-750DDB49200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E81B6-325E-4356-8202-1E042C8F82D0}">
      <dsp:nvSpPr>
        <dsp:cNvPr id="0" name=""/>
        <dsp:cNvSpPr/>
      </dsp:nvSpPr>
      <dsp:spPr>
        <a:xfrm rot="5400000">
          <a:off x="4695872" y="-1748236"/>
          <a:ext cx="1178718" cy="497433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Accepts HTTP and HTTPS requests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Runs under IIS (Microsoft Web Server)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Intended to be used as front-end for application</a:t>
          </a:r>
        </a:p>
      </dsp:txBody>
      <dsp:txXfrm rot="-5400000">
        <a:off x="2798063" y="207113"/>
        <a:ext cx="4916796" cy="1063638"/>
      </dsp:txXfrm>
    </dsp:sp>
    <dsp:sp modelId="{2BE750FC-32B6-41B9-9176-44A31600D6C3}">
      <dsp:nvSpPr>
        <dsp:cNvPr id="0" name=""/>
        <dsp:cNvSpPr/>
      </dsp:nvSpPr>
      <dsp:spPr>
        <a:xfrm>
          <a:off x="0" y="2232"/>
          <a:ext cx="2798064" cy="147339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i="1" kern="1200"/>
            <a:t>Web role</a:t>
          </a:r>
          <a:endParaRPr lang="en-US" sz="4100" kern="1200"/>
        </a:p>
      </dsp:txBody>
      <dsp:txXfrm>
        <a:off x="71925" y="74157"/>
        <a:ext cx="2654214" cy="1329548"/>
      </dsp:txXfrm>
    </dsp:sp>
    <dsp:sp modelId="{64087FE3-29C1-496B-87B2-715DBD8B648C}">
      <dsp:nvSpPr>
        <dsp:cNvPr id="0" name=""/>
        <dsp:cNvSpPr/>
      </dsp:nvSpPr>
      <dsp:spPr>
        <a:xfrm rot="5400000">
          <a:off x="4695872" y="-201168"/>
          <a:ext cx="1178718" cy="4974336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.Net process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Intended to be used as back-end for application</a:t>
          </a:r>
        </a:p>
      </dsp:txBody>
      <dsp:txXfrm rot="-5400000">
        <a:off x="2798063" y="1754181"/>
        <a:ext cx="4916796" cy="1063638"/>
      </dsp:txXfrm>
    </dsp:sp>
    <dsp:sp modelId="{4FABC2E4-FAE1-4A59-9812-93C979B59FD3}">
      <dsp:nvSpPr>
        <dsp:cNvPr id="0" name=""/>
        <dsp:cNvSpPr/>
      </dsp:nvSpPr>
      <dsp:spPr>
        <a:xfrm>
          <a:off x="0" y="1549300"/>
          <a:ext cx="2798064" cy="147339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i="1" kern="1200"/>
            <a:t>Worker role</a:t>
          </a:r>
          <a:endParaRPr lang="en-US" sz="4100" kern="1200"/>
        </a:p>
      </dsp:txBody>
      <dsp:txXfrm>
        <a:off x="71925" y="1621225"/>
        <a:ext cx="2654214" cy="1329548"/>
      </dsp:txXfrm>
    </dsp:sp>
    <dsp:sp modelId="{F295EF93-B577-4C3C-AFBA-779F92362143}">
      <dsp:nvSpPr>
        <dsp:cNvPr id="0" name=""/>
        <dsp:cNvSpPr/>
      </dsp:nvSpPr>
      <dsp:spPr>
        <a:xfrm>
          <a:off x="0" y="3096369"/>
          <a:ext cx="7764815" cy="147339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Why are worker roles needed?</a:t>
          </a:r>
        </a:p>
      </dsp:txBody>
      <dsp:txXfrm>
        <a:off x="71925" y="3168294"/>
        <a:ext cx="7620965" cy="13295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10692B-7995-4071-8F14-C58F7604D8D8}">
      <dsp:nvSpPr>
        <dsp:cNvPr id="0" name=""/>
        <dsp:cNvSpPr/>
      </dsp:nvSpPr>
      <dsp:spPr>
        <a:xfrm>
          <a:off x="0" y="45000"/>
          <a:ext cx="7772400" cy="7195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Example</a:t>
          </a:r>
          <a:endParaRPr lang="en-US" sz="3000" kern="1200"/>
        </a:p>
      </dsp:txBody>
      <dsp:txXfrm>
        <a:off x="35125" y="80125"/>
        <a:ext cx="7702150" cy="649299"/>
      </dsp:txXfrm>
    </dsp:sp>
    <dsp:sp modelId="{75CFFAF6-7A5E-4B47-9B68-7973C4A5A161}">
      <dsp:nvSpPr>
        <dsp:cNvPr id="0" name=""/>
        <dsp:cNvSpPr/>
      </dsp:nvSpPr>
      <dsp:spPr>
        <a:xfrm>
          <a:off x="0" y="764549"/>
          <a:ext cx="7772400" cy="807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Suppose a </a:t>
          </a:r>
          <a:r>
            <a:rPr lang="en-IN" sz="2300" kern="1200" dirty="0" err="1"/>
            <a:t>db</a:t>
          </a:r>
          <a:r>
            <a:rPr lang="en-IN" sz="2300" kern="1200" dirty="0"/>
            <a:t> query is to be made by app</a:t>
          </a:r>
          <a:endParaRPr lang="en-US" sz="2300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/>
            <a:t>Why not do this in web role?</a:t>
          </a:r>
          <a:endParaRPr lang="en-US" sz="2300" kern="1200"/>
        </a:p>
      </dsp:txBody>
      <dsp:txXfrm>
        <a:off x="0" y="764549"/>
        <a:ext cx="7772400" cy="807300"/>
      </dsp:txXfrm>
    </dsp:sp>
    <dsp:sp modelId="{8BDE4404-C681-43C4-B6CA-B54834B75AAE}">
      <dsp:nvSpPr>
        <dsp:cNvPr id="0" name=""/>
        <dsp:cNvSpPr/>
      </dsp:nvSpPr>
      <dsp:spPr>
        <a:xfrm>
          <a:off x="0" y="1571849"/>
          <a:ext cx="7772400" cy="719549"/>
        </a:xfrm>
        <a:prstGeom prst="roundRect">
          <a:avLst/>
        </a:prstGeom>
        <a:solidFill>
          <a:schemeClr val="accent4">
            <a:hueOff val="2658761"/>
            <a:satOff val="962"/>
            <a:lumOff val="-784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Worker role</a:t>
          </a:r>
          <a:endParaRPr lang="en-US" sz="3000" kern="1200" dirty="0"/>
        </a:p>
      </dsp:txBody>
      <dsp:txXfrm>
        <a:off x="35125" y="1606974"/>
        <a:ext cx="7702150" cy="649299"/>
      </dsp:txXfrm>
    </dsp:sp>
    <dsp:sp modelId="{26C0E940-2FFB-420B-81F2-EEF7E96057C9}">
      <dsp:nvSpPr>
        <dsp:cNvPr id="0" name=""/>
        <dsp:cNvSpPr/>
      </dsp:nvSpPr>
      <dsp:spPr>
        <a:xfrm>
          <a:off x="0" y="2291399"/>
          <a:ext cx="7772400" cy="22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/>
            <a:t>Intended to be used for </a:t>
          </a:r>
          <a:r>
            <a:rPr lang="en-IN" sz="2300" i="1" kern="1200"/>
            <a:t>long-running </a:t>
          </a:r>
          <a:r>
            <a:rPr lang="en-IN" sz="2300" kern="1200"/>
            <a:t>or </a:t>
          </a:r>
          <a:r>
            <a:rPr lang="en-IN" sz="2300" i="1" kern="1200"/>
            <a:t>asynchronous </a:t>
          </a:r>
          <a:r>
            <a:rPr lang="en-IN" sz="2300" kern="1200"/>
            <a:t>operations</a:t>
          </a:r>
          <a:endParaRPr lang="en-US" sz="2300" kern="120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/>
            <a:t>Not good to have long running operations executed synchronously in Web role</a:t>
          </a:r>
          <a:endParaRPr lang="en-US" sz="2300" kern="1200"/>
        </a:p>
        <a:p>
          <a:pPr marL="457200" lvl="2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/>
            <a:t>Timeouts</a:t>
          </a:r>
          <a:endParaRPr lang="en-US" sz="2300" kern="1200"/>
        </a:p>
        <a:p>
          <a:pPr marL="457200" lvl="2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/>
            <a:t>Application appears  to hang, user  may cancel</a:t>
          </a:r>
          <a:endParaRPr lang="en-US" sz="2300" kern="1200"/>
        </a:p>
      </dsp:txBody>
      <dsp:txXfrm>
        <a:off x="0" y="2291399"/>
        <a:ext cx="7772400" cy="22356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BDA09-7BC7-43D1-963D-AD436C3F215D}">
      <dsp:nvSpPr>
        <dsp:cNvPr id="0" name=""/>
        <dsp:cNvSpPr/>
      </dsp:nvSpPr>
      <dsp:spPr>
        <a:xfrm>
          <a:off x="0" y="355500"/>
          <a:ext cx="7772400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Distribute load among all the Web roles</a:t>
          </a:r>
        </a:p>
      </dsp:txBody>
      <dsp:txXfrm>
        <a:off x="35125" y="390625"/>
        <a:ext cx="7702150" cy="649299"/>
      </dsp:txXfrm>
    </dsp:sp>
    <dsp:sp modelId="{9C662CC3-C804-4F02-A840-A91D400F7575}">
      <dsp:nvSpPr>
        <dsp:cNvPr id="0" name=""/>
        <dsp:cNvSpPr/>
      </dsp:nvSpPr>
      <dsp:spPr>
        <a:xfrm>
          <a:off x="0" y="1075049"/>
          <a:ext cx="7772400" cy="12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Aware of scale up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Aware of scale down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Both host and port selection</a:t>
          </a:r>
        </a:p>
      </dsp:txBody>
      <dsp:txXfrm>
        <a:off x="0" y="1075049"/>
        <a:ext cx="7772400" cy="1210950"/>
      </dsp:txXfrm>
    </dsp:sp>
    <dsp:sp modelId="{F64EB36E-088F-42F1-8A9F-0A269A6D57A0}">
      <dsp:nvSpPr>
        <dsp:cNvPr id="0" name=""/>
        <dsp:cNvSpPr/>
      </dsp:nvSpPr>
      <dsp:spPr>
        <a:xfrm>
          <a:off x="0" y="2286000"/>
          <a:ext cx="7772400" cy="719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Service monitoring - Probe types</a:t>
          </a:r>
        </a:p>
      </dsp:txBody>
      <dsp:txXfrm>
        <a:off x="35125" y="2321125"/>
        <a:ext cx="7702150" cy="649299"/>
      </dsp:txXfrm>
    </dsp:sp>
    <dsp:sp modelId="{606733FB-2C4C-45B4-AD3B-2801A22E1A0E}">
      <dsp:nvSpPr>
        <dsp:cNvPr id="0" name=""/>
        <dsp:cNvSpPr/>
      </dsp:nvSpPr>
      <dsp:spPr>
        <a:xfrm>
          <a:off x="0" y="3005550"/>
          <a:ext cx="7772400" cy="12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Guest agent: call some API in Web role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HTTP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TCP</a:t>
          </a:r>
        </a:p>
      </dsp:txBody>
      <dsp:txXfrm>
        <a:off x="0" y="3005550"/>
        <a:ext cx="7772400" cy="12109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E35290-9E52-4CAF-A62F-B757385345D2}">
      <dsp:nvSpPr>
        <dsp:cNvPr id="0" name=""/>
        <dsp:cNvSpPr/>
      </dsp:nvSpPr>
      <dsp:spPr>
        <a:xfrm>
          <a:off x="0" y="142942"/>
          <a:ext cx="2743200" cy="1516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Stickiness within a single TCP session</a:t>
          </a:r>
        </a:p>
      </dsp:txBody>
      <dsp:txXfrm>
        <a:off x="74021" y="216963"/>
        <a:ext cx="2595158" cy="1368278"/>
      </dsp:txXfrm>
    </dsp:sp>
    <dsp:sp modelId="{90390563-72E4-4B34-BE06-62DA8B3ACDDC}">
      <dsp:nvSpPr>
        <dsp:cNvPr id="0" name=""/>
        <dsp:cNvSpPr/>
      </dsp:nvSpPr>
      <dsp:spPr>
        <a:xfrm>
          <a:off x="0" y="1737022"/>
          <a:ext cx="2743200" cy="1516320"/>
        </a:xfrm>
        <a:prstGeom prst="roundRect">
          <a:avLst/>
        </a:prstGeom>
        <a:solidFill>
          <a:schemeClr val="accent3">
            <a:hueOff val="6567904"/>
            <a:satOff val="-50632"/>
            <a:lumOff val="137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Public Endpoints </a:t>
          </a:r>
        </a:p>
      </dsp:txBody>
      <dsp:txXfrm>
        <a:off x="74021" y="1811043"/>
        <a:ext cx="2595158" cy="1368278"/>
      </dsp:txXfrm>
    </dsp:sp>
    <dsp:sp modelId="{0736E106-DC3D-45AC-9289-750DDB49200E}">
      <dsp:nvSpPr>
        <dsp:cNvPr id="0" name=""/>
        <dsp:cNvSpPr/>
      </dsp:nvSpPr>
      <dsp:spPr>
        <a:xfrm>
          <a:off x="0" y="3253342"/>
          <a:ext cx="2743200" cy="978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Which listen to external requests.</a:t>
          </a:r>
        </a:p>
      </dsp:txBody>
      <dsp:txXfrm>
        <a:off x="0" y="3253342"/>
        <a:ext cx="2743200" cy="9780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B5E84-A3C6-7A47-AEDB-E73F6F7FDBB4}" type="datetimeFigureOut">
              <a:rPr lang="en-GB" smtClean="0"/>
              <a:t>21/08/2025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0612E-9169-6B42-AF4C-1B04488A6F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305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1968E-B926-1749-8FA0-27A62C0B1461}" type="datetimeFigureOut">
              <a:rPr lang="en-GB" smtClean="0"/>
              <a:t>21/08/2025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4F74B-1395-9B4C-A88B-8296CCACF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713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28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83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2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96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85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29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146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36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675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63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45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7910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22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383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031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544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19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8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diagramLayout" Target="../diagrams/layout4.xml"/><Relationship Id="rId7" Type="http://schemas.openxmlformats.org/officeDocument/2006/relationships/image" Target="../media/image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myaccount.blob.core.windows.net/" TargetMode="External"/><Relationship Id="rId2" Type="http://schemas.openxmlformats.org/officeDocument/2006/relationships/hyperlink" Target="http://myaccount.blob.core.windows.net/container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Us3qtbbPV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4: PaaS Programming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K. V. Subramaniam</a:t>
            </a:r>
          </a:p>
        </p:txBody>
      </p:sp>
    </p:spTree>
    <p:extLst>
      <p:ext uri="{BB962C8B-B14F-4D97-AF65-F5344CB8AC3E}">
        <p14:creationId xmlns:p14="http://schemas.microsoft.com/office/powerpoint/2010/main" val="639527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4C29F9-F63F-4127-A201-165DFAC8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Motivational Exercise 1 (10 mins)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52021-A184-45DB-94BE-7E5681652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10150475" cy="4525963"/>
          </a:xfrm>
          <a:solidFill>
            <a:schemeClr val="accent3"/>
          </a:solidFill>
        </p:spPr>
        <p:txBody>
          <a:bodyPr>
            <a:normAutofit/>
          </a:bodyPr>
          <a:lstStyle/>
          <a:p>
            <a:r>
              <a:rPr lang="en-IN" dirty="0"/>
              <a:t>Consider building a </a:t>
            </a:r>
            <a:r>
              <a:rPr lang="en-IN" dirty="0" err="1"/>
              <a:t>photosharing</a:t>
            </a:r>
            <a:r>
              <a:rPr lang="en-IN" dirty="0"/>
              <a:t> app</a:t>
            </a:r>
          </a:p>
          <a:p>
            <a:pPr lvl="1"/>
            <a:r>
              <a:rPr lang="en-IN" dirty="0"/>
              <a:t>User uploads photo</a:t>
            </a:r>
          </a:p>
          <a:p>
            <a:pPr lvl="1"/>
            <a:r>
              <a:rPr lang="en-IN" dirty="0"/>
              <a:t>App recognizes faces in photo</a:t>
            </a:r>
          </a:p>
          <a:p>
            <a:pPr lvl="1"/>
            <a:r>
              <a:rPr lang="en-IN" dirty="0"/>
              <a:t>App stores photos + faces in photo into database.</a:t>
            </a:r>
          </a:p>
          <a:p>
            <a:r>
              <a:rPr lang="en-IN" dirty="0"/>
              <a:t>What will you do in various tiers of the 3-tier application model?</a:t>
            </a:r>
          </a:p>
          <a:p>
            <a:r>
              <a:rPr lang="en-IN" dirty="0"/>
              <a:t>What are the steps to get it working on a IaaS cloud?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81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4C29F9-F63F-4127-A201-165DFAC8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Motivational Exercise 1: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52021-A184-45DB-94BE-7E5681652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9952" y="1600201"/>
            <a:ext cx="4609699" cy="4656138"/>
          </a:xfrm>
          <a:solidFill>
            <a:schemeClr val="accent3"/>
          </a:solidFill>
        </p:spPr>
        <p:txBody>
          <a:bodyPr>
            <a:normAutofit/>
          </a:bodyPr>
          <a:lstStyle/>
          <a:p>
            <a:r>
              <a:rPr lang="en-IN" dirty="0"/>
              <a:t>Start a VM</a:t>
            </a:r>
          </a:p>
          <a:p>
            <a:r>
              <a:rPr lang="en-IN" dirty="0"/>
              <a:t>Connect a block storage device</a:t>
            </a:r>
          </a:p>
          <a:p>
            <a:r>
              <a:rPr lang="en-IN" dirty="0"/>
              <a:t>Install  Web Server</a:t>
            </a:r>
          </a:p>
          <a:p>
            <a:r>
              <a:rPr lang="en-IN" dirty="0"/>
              <a:t>Install App Server</a:t>
            </a:r>
          </a:p>
          <a:p>
            <a:r>
              <a:rPr lang="en-IN" dirty="0"/>
              <a:t>Install Database</a:t>
            </a:r>
          </a:p>
          <a:p>
            <a:r>
              <a:rPr lang="en-IN" dirty="0"/>
              <a:t>Upload application</a:t>
            </a:r>
          </a:p>
          <a:p>
            <a:r>
              <a:rPr lang="en-IN" dirty="0"/>
              <a:t>Run Application</a:t>
            </a:r>
          </a:p>
          <a:p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64F4C9-4D0E-44FE-9CCE-DE22175BAC34}"/>
              </a:ext>
            </a:extLst>
          </p:cNvPr>
          <p:cNvSpPr/>
          <p:nvPr/>
        </p:nvSpPr>
        <p:spPr>
          <a:xfrm>
            <a:off x="7900416" y="3026664"/>
            <a:ext cx="1903984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 Photo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83D11358-7B28-4F63-92EE-597ED41E6C90}"/>
              </a:ext>
            </a:extLst>
          </p:cNvPr>
          <p:cNvSpPr/>
          <p:nvPr/>
        </p:nvSpPr>
        <p:spPr>
          <a:xfrm>
            <a:off x="8229600" y="4800600"/>
            <a:ext cx="1320800" cy="762000"/>
          </a:xfrm>
          <a:prstGeom prst="flowChartMagneticDisk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Photo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201E2E-9880-4FB0-B887-20F223EA49A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890000" y="3788664"/>
            <a:ext cx="0" cy="1011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3CC8B5-AD18-41C0-9ABA-A73FED312DED}"/>
              </a:ext>
            </a:extLst>
          </p:cNvPr>
          <p:cNvCxnSpPr>
            <a:cxnSpLocks/>
          </p:cNvCxnSpPr>
          <p:nvPr/>
        </p:nvCxnSpPr>
        <p:spPr>
          <a:xfrm>
            <a:off x="8229600" y="18288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EF2A87-56E7-4610-907D-B4A9C28F0DB3}"/>
              </a:ext>
            </a:extLst>
          </p:cNvPr>
          <p:cNvSpPr txBox="1"/>
          <p:nvPr/>
        </p:nvSpPr>
        <p:spPr>
          <a:xfrm>
            <a:off x="7233387" y="1371600"/>
            <a:ext cx="149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Upload photo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0403EB-F117-4E99-94C5-4BCA9D6EA9E7}"/>
              </a:ext>
            </a:extLst>
          </p:cNvPr>
          <p:cNvSpPr/>
          <p:nvPr/>
        </p:nvSpPr>
        <p:spPr>
          <a:xfrm>
            <a:off x="10271380" y="3026664"/>
            <a:ext cx="1903984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Recognize face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0E7029-1ED1-45E1-9582-6BFD95BDB6AA}"/>
              </a:ext>
            </a:extLst>
          </p:cNvPr>
          <p:cNvCxnSpPr>
            <a:cxnSpLocks/>
          </p:cNvCxnSpPr>
          <p:nvPr/>
        </p:nvCxnSpPr>
        <p:spPr>
          <a:xfrm>
            <a:off x="9804401" y="3200400"/>
            <a:ext cx="466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Magnetic Disk 18">
            <a:extLst>
              <a:ext uri="{FF2B5EF4-FFF2-40B4-BE49-F238E27FC236}">
                <a16:creationId xmlns:a16="http://schemas.microsoft.com/office/drawing/2014/main" id="{2A1C5828-B71F-4F5A-A097-640E24CC5CDA}"/>
              </a:ext>
            </a:extLst>
          </p:cNvPr>
          <p:cNvSpPr/>
          <p:nvPr/>
        </p:nvSpPr>
        <p:spPr>
          <a:xfrm>
            <a:off x="9902572" y="4800600"/>
            <a:ext cx="1320800" cy="762000"/>
          </a:xfrm>
          <a:prstGeom prst="flowChartMagneticDisk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Faces in photo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DCF044-A20B-4844-B458-9E3910469225}"/>
              </a:ext>
            </a:extLst>
          </p:cNvPr>
          <p:cNvCxnSpPr>
            <a:stCxn id="6" idx="2"/>
            <a:endCxn id="19" idx="1"/>
          </p:cNvCxnSpPr>
          <p:nvPr/>
        </p:nvCxnSpPr>
        <p:spPr>
          <a:xfrm>
            <a:off x="8852409" y="3788664"/>
            <a:ext cx="1710564" cy="1011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9B9EB9-EF4A-4432-9515-E96684A01DF9}"/>
              </a:ext>
            </a:extLst>
          </p:cNvPr>
          <p:cNvSpPr/>
          <p:nvPr/>
        </p:nvSpPr>
        <p:spPr>
          <a:xfrm>
            <a:off x="7924800" y="2188465"/>
            <a:ext cx="1903984" cy="6095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GUI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AA4C7-F911-4F77-A314-88CF3318C977}"/>
              </a:ext>
            </a:extLst>
          </p:cNvPr>
          <p:cNvCxnSpPr>
            <a:stCxn id="15" idx="2"/>
            <a:endCxn id="6" idx="0"/>
          </p:cNvCxnSpPr>
          <p:nvPr/>
        </p:nvCxnSpPr>
        <p:spPr>
          <a:xfrm flipH="1">
            <a:off x="8852408" y="2798064"/>
            <a:ext cx="24384" cy="228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81323F-02B5-45ED-9E48-75D52CEA1F04}"/>
              </a:ext>
            </a:extLst>
          </p:cNvPr>
          <p:cNvSpPr txBox="1"/>
          <p:nvPr/>
        </p:nvSpPr>
        <p:spPr>
          <a:xfrm>
            <a:off x="6012854" y="2286000"/>
            <a:ext cx="112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Front End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E8DFED-895A-4FA2-93F9-E2CDD3EE0DEC}"/>
              </a:ext>
            </a:extLst>
          </p:cNvPr>
          <p:cNvSpPr txBox="1"/>
          <p:nvPr/>
        </p:nvSpPr>
        <p:spPr>
          <a:xfrm>
            <a:off x="6012853" y="3127248"/>
            <a:ext cx="1143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App Logic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B10678-0E0C-434F-A765-1758268C45E5}"/>
              </a:ext>
            </a:extLst>
          </p:cNvPr>
          <p:cNvSpPr txBox="1"/>
          <p:nvPr/>
        </p:nvSpPr>
        <p:spPr>
          <a:xfrm>
            <a:off x="5989274" y="5010912"/>
            <a:ext cx="1090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233885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4C29F9-F63F-4127-A201-165DFAC8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 - PaaS Programming Model (5 mins)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52021-A184-45DB-94BE-7E5681652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3"/>
          </a:solidFill>
        </p:spPr>
        <p:txBody>
          <a:bodyPr>
            <a:normAutofit/>
          </a:bodyPr>
          <a:lstStyle/>
          <a:p>
            <a:r>
              <a:rPr lang="en-IN" dirty="0"/>
              <a:t>If mundane tasks like installing web and database servers are taken care of by PaaS,</a:t>
            </a:r>
          </a:p>
          <a:p>
            <a:r>
              <a:rPr lang="en-IN" dirty="0"/>
              <a:t>Then </a:t>
            </a:r>
          </a:p>
          <a:p>
            <a:pPr lvl="1"/>
            <a:r>
              <a:rPr lang="en-IN" dirty="0"/>
              <a:t>Do we just upload the application to the cloud controller?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What are the challenges?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64F4C9-4D0E-44FE-9CCE-DE22175BAC34}"/>
              </a:ext>
            </a:extLst>
          </p:cNvPr>
          <p:cNvSpPr/>
          <p:nvPr/>
        </p:nvSpPr>
        <p:spPr>
          <a:xfrm>
            <a:off x="7900416" y="3026664"/>
            <a:ext cx="1903984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 Photo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83D11358-7B28-4F63-92EE-597ED41E6C90}"/>
              </a:ext>
            </a:extLst>
          </p:cNvPr>
          <p:cNvSpPr/>
          <p:nvPr/>
        </p:nvSpPr>
        <p:spPr>
          <a:xfrm>
            <a:off x="8229600" y="4800600"/>
            <a:ext cx="1320800" cy="762000"/>
          </a:xfrm>
          <a:prstGeom prst="flowChartMagneticDisk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Photo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201E2E-9880-4FB0-B887-20F223EA49A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890000" y="3788664"/>
            <a:ext cx="0" cy="10119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3CC8B5-AD18-41C0-9ABA-A73FED312DED}"/>
              </a:ext>
            </a:extLst>
          </p:cNvPr>
          <p:cNvCxnSpPr>
            <a:cxnSpLocks/>
          </p:cNvCxnSpPr>
          <p:nvPr/>
        </p:nvCxnSpPr>
        <p:spPr>
          <a:xfrm>
            <a:off x="8229600" y="18288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EF2A87-56E7-4610-907D-B4A9C28F0DB3}"/>
              </a:ext>
            </a:extLst>
          </p:cNvPr>
          <p:cNvSpPr txBox="1"/>
          <p:nvPr/>
        </p:nvSpPr>
        <p:spPr>
          <a:xfrm>
            <a:off x="7233387" y="1371600"/>
            <a:ext cx="149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Upload photo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0403EB-F117-4E99-94C5-4BCA9D6EA9E7}"/>
              </a:ext>
            </a:extLst>
          </p:cNvPr>
          <p:cNvSpPr/>
          <p:nvPr/>
        </p:nvSpPr>
        <p:spPr>
          <a:xfrm>
            <a:off x="10271380" y="3026664"/>
            <a:ext cx="1903984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Recognize face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0E7029-1ED1-45E1-9582-6BFD95BDB6AA}"/>
              </a:ext>
            </a:extLst>
          </p:cNvPr>
          <p:cNvCxnSpPr>
            <a:cxnSpLocks/>
          </p:cNvCxnSpPr>
          <p:nvPr/>
        </p:nvCxnSpPr>
        <p:spPr>
          <a:xfrm>
            <a:off x="9804401" y="3200400"/>
            <a:ext cx="4669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Flowchart: Magnetic Disk 18">
            <a:extLst>
              <a:ext uri="{FF2B5EF4-FFF2-40B4-BE49-F238E27FC236}">
                <a16:creationId xmlns:a16="http://schemas.microsoft.com/office/drawing/2014/main" id="{2A1C5828-B71F-4F5A-A097-640E24CC5CDA}"/>
              </a:ext>
            </a:extLst>
          </p:cNvPr>
          <p:cNvSpPr/>
          <p:nvPr/>
        </p:nvSpPr>
        <p:spPr>
          <a:xfrm>
            <a:off x="9902572" y="4800600"/>
            <a:ext cx="1320800" cy="762000"/>
          </a:xfrm>
          <a:prstGeom prst="flowChartMagneticDisk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Faces in photo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DCF044-A20B-4844-B458-9E3910469225}"/>
              </a:ext>
            </a:extLst>
          </p:cNvPr>
          <p:cNvCxnSpPr>
            <a:stCxn id="6" idx="2"/>
            <a:endCxn id="19" idx="1"/>
          </p:cNvCxnSpPr>
          <p:nvPr/>
        </p:nvCxnSpPr>
        <p:spPr>
          <a:xfrm>
            <a:off x="8852409" y="3788664"/>
            <a:ext cx="1710564" cy="10119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9B9EB9-EF4A-4432-9515-E96684A01DF9}"/>
              </a:ext>
            </a:extLst>
          </p:cNvPr>
          <p:cNvSpPr/>
          <p:nvPr/>
        </p:nvSpPr>
        <p:spPr>
          <a:xfrm>
            <a:off x="7924800" y="2188465"/>
            <a:ext cx="1903984" cy="6095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GUI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AA4C7-F911-4F77-A314-88CF3318C977}"/>
              </a:ext>
            </a:extLst>
          </p:cNvPr>
          <p:cNvCxnSpPr>
            <a:stCxn id="15" idx="2"/>
            <a:endCxn id="6" idx="0"/>
          </p:cNvCxnSpPr>
          <p:nvPr/>
        </p:nvCxnSpPr>
        <p:spPr>
          <a:xfrm flipH="1">
            <a:off x="8852408" y="2798064"/>
            <a:ext cx="24384" cy="228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81323F-02B5-45ED-9E48-75D52CEA1F04}"/>
              </a:ext>
            </a:extLst>
          </p:cNvPr>
          <p:cNvSpPr txBox="1"/>
          <p:nvPr/>
        </p:nvSpPr>
        <p:spPr>
          <a:xfrm>
            <a:off x="6012854" y="2286000"/>
            <a:ext cx="112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Front End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E8DFED-895A-4FA2-93F9-E2CDD3EE0DEC}"/>
              </a:ext>
            </a:extLst>
          </p:cNvPr>
          <p:cNvSpPr txBox="1"/>
          <p:nvPr/>
        </p:nvSpPr>
        <p:spPr>
          <a:xfrm>
            <a:off x="6012853" y="3127248"/>
            <a:ext cx="1143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App Logic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B10678-0E0C-434F-A765-1758268C45E5}"/>
              </a:ext>
            </a:extLst>
          </p:cNvPr>
          <p:cNvSpPr txBox="1"/>
          <p:nvPr/>
        </p:nvSpPr>
        <p:spPr>
          <a:xfrm>
            <a:off x="5989274" y="5010912"/>
            <a:ext cx="1090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217892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B89D-54CC-C125-ADE0-06679C71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BEAABE-8ACE-5D72-7392-AA1923E83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 - PaaS Programming Model (5 mins)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E089F-2D0D-0B95-E62E-867455D24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3"/>
          </a:solidFill>
        </p:spPr>
        <p:txBody>
          <a:bodyPr>
            <a:normAutofit/>
          </a:bodyPr>
          <a:lstStyle/>
          <a:p>
            <a:r>
              <a:rPr lang="en-IN" dirty="0"/>
              <a:t>If mundane tasks like installing web and database servers are taken care of by PaaS,</a:t>
            </a:r>
          </a:p>
          <a:p>
            <a:r>
              <a:rPr lang="en-IN" dirty="0"/>
              <a:t>Then </a:t>
            </a:r>
          </a:p>
          <a:p>
            <a:pPr lvl="1"/>
            <a:r>
              <a:rPr lang="en-IN" dirty="0"/>
              <a:t>Do we just upload the application to the cloud controller?</a:t>
            </a:r>
          </a:p>
          <a:p>
            <a:pPr lvl="1"/>
            <a:r>
              <a:rPr lang="en-IN" dirty="0"/>
              <a:t>How does the PaaS platform know which parts do deploy where (e.g., some components may need to run under a  web server)?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044B-4A5F-C972-153C-8BD6F60DF6D7}"/>
              </a:ext>
            </a:extLst>
          </p:cNvPr>
          <p:cNvSpPr/>
          <p:nvPr/>
        </p:nvSpPr>
        <p:spPr>
          <a:xfrm>
            <a:off x="7900416" y="3026664"/>
            <a:ext cx="1903984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 Photo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55A4DC85-E314-807C-53D1-8353699B6C07}"/>
              </a:ext>
            </a:extLst>
          </p:cNvPr>
          <p:cNvSpPr/>
          <p:nvPr/>
        </p:nvSpPr>
        <p:spPr>
          <a:xfrm>
            <a:off x="8229600" y="4800600"/>
            <a:ext cx="1320800" cy="762000"/>
          </a:xfrm>
          <a:prstGeom prst="flowChartMagneticDisk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Photo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D1520B-0BFA-5C68-FC1B-366E48C1E2B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890000" y="3788664"/>
            <a:ext cx="0" cy="10119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E83547-85AB-1A3B-3906-E85995323EE3}"/>
              </a:ext>
            </a:extLst>
          </p:cNvPr>
          <p:cNvCxnSpPr>
            <a:cxnSpLocks/>
          </p:cNvCxnSpPr>
          <p:nvPr/>
        </p:nvCxnSpPr>
        <p:spPr>
          <a:xfrm>
            <a:off x="8229600" y="18288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4EC77F-7C47-7102-BF50-41EABDFB11C2}"/>
              </a:ext>
            </a:extLst>
          </p:cNvPr>
          <p:cNvSpPr txBox="1"/>
          <p:nvPr/>
        </p:nvSpPr>
        <p:spPr>
          <a:xfrm>
            <a:off x="7233387" y="1371600"/>
            <a:ext cx="149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Upload photo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C0B0B57-7B0A-58C3-F7C2-2652BABAFA0A}"/>
              </a:ext>
            </a:extLst>
          </p:cNvPr>
          <p:cNvSpPr/>
          <p:nvPr/>
        </p:nvSpPr>
        <p:spPr>
          <a:xfrm>
            <a:off x="10271380" y="3026664"/>
            <a:ext cx="1903984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Recognize face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3501C0-9F64-54C3-E49E-790769D70528}"/>
              </a:ext>
            </a:extLst>
          </p:cNvPr>
          <p:cNvCxnSpPr>
            <a:cxnSpLocks/>
          </p:cNvCxnSpPr>
          <p:nvPr/>
        </p:nvCxnSpPr>
        <p:spPr>
          <a:xfrm>
            <a:off x="9804401" y="3200400"/>
            <a:ext cx="4669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Flowchart: Magnetic Disk 18">
            <a:extLst>
              <a:ext uri="{FF2B5EF4-FFF2-40B4-BE49-F238E27FC236}">
                <a16:creationId xmlns:a16="http://schemas.microsoft.com/office/drawing/2014/main" id="{ED35875D-A14D-6A8E-50AD-AA85F1984FE0}"/>
              </a:ext>
            </a:extLst>
          </p:cNvPr>
          <p:cNvSpPr/>
          <p:nvPr/>
        </p:nvSpPr>
        <p:spPr>
          <a:xfrm>
            <a:off x="9902572" y="4800600"/>
            <a:ext cx="1320800" cy="762000"/>
          </a:xfrm>
          <a:prstGeom prst="flowChartMagneticDisk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Faces in photo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2A7954-1F39-D84E-33D4-A4F86146E741}"/>
              </a:ext>
            </a:extLst>
          </p:cNvPr>
          <p:cNvCxnSpPr>
            <a:stCxn id="6" idx="2"/>
            <a:endCxn id="19" idx="1"/>
          </p:cNvCxnSpPr>
          <p:nvPr/>
        </p:nvCxnSpPr>
        <p:spPr>
          <a:xfrm>
            <a:off x="8852409" y="3788664"/>
            <a:ext cx="1710564" cy="10119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83A4D5-92EB-28D9-2E96-78E3BD24C09A}"/>
              </a:ext>
            </a:extLst>
          </p:cNvPr>
          <p:cNvSpPr/>
          <p:nvPr/>
        </p:nvSpPr>
        <p:spPr>
          <a:xfrm>
            <a:off x="7924800" y="2188465"/>
            <a:ext cx="1903984" cy="6095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GUI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28D5AC-ECA6-456B-E247-942524653EDA}"/>
              </a:ext>
            </a:extLst>
          </p:cNvPr>
          <p:cNvCxnSpPr>
            <a:stCxn id="15" idx="2"/>
            <a:endCxn id="6" idx="0"/>
          </p:cNvCxnSpPr>
          <p:nvPr/>
        </p:nvCxnSpPr>
        <p:spPr>
          <a:xfrm flipH="1">
            <a:off x="8852408" y="2798064"/>
            <a:ext cx="24384" cy="228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F68DF97-12FF-CDC8-5D00-354CF622B476}"/>
              </a:ext>
            </a:extLst>
          </p:cNvPr>
          <p:cNvSpPr txBox="1"/>
          <p:nvPr/>
        </p:nvSpPr>
        <p:spPr>
          <a:xfrm>
            <a:off x="6012854" y="2286000"/>
            <a:ext cx="112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Front End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E960C-0F96-9F4A-79B7-B7CC4A98F9D3}"/>
              </a:ext>
            </a:extLst>
          </p:cNvPr>
          <p:cNvSpPr txBox="1"/>
          <p:nvPr/>
        </p:nvSpPr>
        <p:spPr>
          <a:xfrm>
            <a:off x="6012853" y="3127248"/>
            <a:ext cx="1143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App Logic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24917F-F5DA-3C6C-8B91-F0CB610F5B2C}"/>
              </a:ext>
            </a:extLst>
          </p:cNvPr>
          <p:cNvSpPr txBox="1"/>
          <p:nvPr/>
        </p:nvSpPr>
        <p:spPr>
          <a:xfrm>
            <a:off x="5989274" y="5010912"/>
            <a:ext cx="1090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4058386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loud 23"/>
          <p:cNvSpPr/>
          <p:nvPr/>
        </p:nvSpPr>
        <p:spPr>
          <a:xfrm>
            <a:off x="7079913" y="1828800"/>
            <a:ext cx="5112088" cy="4876800"/>
          </a:xfrm>
          <a:prstGeom prst="cloud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4C29F9-F63F-4127-A201-165DFAC8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PaaS Programming Model – solution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EA3F9A-26FF-4706-B8F2-9717C4307B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64F4C9-4D0E-44FE-9CCE-DE22175BAC34}"/>
              </a:ext>
            </a:extLst>
          </p:cNvPr>
          <p:cNvSpPr/>
          <p:nvPr/>
        </p:nvSpPr>
        <p:spPr>
          <a:xfrm>
            <a:off x="7900416" y="3026664"/>
            <a:ext cx="1903984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 Photo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83D11358-7B28-4F63-92EE-597ED41E6C90}"/>
              </a:ext>
            </a:extLst>
          </p:cNvPr>
          <p:cNvSpPr/>
          <p:nvPr/>
        </p:nvSpPr>
        <p:spPr>
          <a:xfrm>
            <a:off x="8229600" y="4800600"/>
            <a:ext cx="1320800" cy="762000"/>
          </a:xfrm>
          <a:prstGeom prst="flowChartMagneticDisk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Photo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201E2E-9880-4FB0-B887-20F223EA49A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890000" y="3788664"/>
            <a:ext cx="0" cy="1011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3CC8B5-AD18-41C0-9ABA-A73FED312DED}"/>
              </a:ext>
            </a:extLst>
          </p:cNvPr>
          <p:cNvCxnSpPr>
            <a:cxnSpLocks/>
          </p:cNvCxnSpPr>
          <p:nvPr/>
        </p:nvCxnSpPr>
        <p:spPr>
          <a:xfrm>
            <a:off x="8229600" y="18288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EF2A87-56E7-4610-907D-B4A9C28F0DB3}"/>
              </a:ext>
            </a:extLst>
          </p:cNvPr>
          <p:cNvSpPr txBox="1"/>
          <p:nvPr/>
        </p:nvSpPr>
        <p:spPr>
          <a:xfrm>
            <a:off x="7233387" y="1371600"/>
            <a:ext cx="149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Upload photo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0403EB-F117-4E99-94C5-4BCA9D6EA9E7}"/>
              </a:ext>
            </a:extLst>
          </p:cNvPr>
          <p:cNvSpPr/>
          <p:nvPr/>
        </p:nvSpPr>
        <p:spPr>
          <a:xfrm>
            <a:off x="10271380" y="3026664"/>
            <a:ext cx="1903984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Recognize face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0E7029-1ED1-45E1-9582-6BFD95BDB6AA}"/>
              </a:ext>
            </a:extLst>
          </p:cNvPr>
          <p:cNvCxnSpPr>
            <a:cxnSpLocks/>
          </p:cNvCxnSpPr>
          <p:nvPr/>
        </p:nvCxnSpPr>
        <p:spPr>
          <a:xfrm>
            <a:off x="9804401" y="3200400"/>
            <a:ext cx="466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Magnetic Disk 18">
            <a:extLst>
              <a:ext uri="{FF2B5EF4-FFF2-40B4-BE49-F238E27FC236}">
                <a16:creationId xmlns:a16="http://schemas.microsoft.com/office/drawing/2014/main" id="{2A1C5828-B71F-4F5A-A097-640E24CC5CDA}"/>
              </a:ext>
            </a:extLst>
          </p:cNvPr>
          <p:cNvSpPr/>
          <p:nvPr/>
        </p:nvSpPr>
        <p:spPr>
          <a:xfrm>
            <a:off x="9902572" y="4800600"/>
            <a:ext cx="1320800" cy="762000"/>
          </a:xfrm>
          <a:prstGeom prst="flowChartMagneticDisk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Faces in photo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DCF044-A20B-4844-B458-9E3910469225}"/>
              </a:ext>
            </a:extLst>
          </p:cNvPr>
          <p:cNvCxnSpPr>
            <a:stCxn id="6" idx="2"/>
            <a:endCxn id="19" idx="1"/>
          </p:cNvCxnSpPr>
          <p:nvPr/>
        </p:nvCxnSpPr>
        <p:spPr>
          <a:xfrm>
            <a:off x="8852409" y="3788664"/>
            <a:ext cx="1710564" cy="1011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9B9EB9-EF4A-4432-9515-E96684A01DF9}"/>
              </a:ext>
            </a:extLst>
          </p:cNvPr>
          <p:cNvSpPr/>
          <p:nvPr/>
        </p:nvSpPr>
        <p:spPr>
          <a:xfrm>
            <a:off x="7924800" y="2188465"/>
            <a:ext cx="1903984" cy="6095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GUI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AA4C7-F911-4F77-A314-88CF3318C977}"/>
              </a:ext>
            </a:extLst>
          </p:cNvPr>
          <p:cNvCxnSpPr>
            <a:stCxn id="15" idx="2"/>
            <a:endCxn id="6" idx="0"/>
          </p:cNvCxnSpPr>
          <p:nvPr/>
        </p:nvCxnSpPr>
        <p:spPr>
          <a:xfrm flipH="1">
            <a:off x="8852408" y="2798064"/>
            <a:ext cx="24384" cy="228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81323F-02B5-45ED-9E48-75D52CEA1F04}"/>
              </a:ext>
            </a:extLst>
          </p:cNvPr>
          <p:cNvSpPr txBox="1"/>
          <p:nvPr/>
        </p:nvSpPr>
        <p:spPr>
          <a:xfrm>
            <a:off x="6012854" y="2286000"/>
            <a:ext cx="112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Front End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E8DFED-895A-4FA2-93F9-E2CDD3EE0DEC}"/>
              </a:ext>
            </a:extLst>
          </p:cNvPr>
          <p:cNvSpPr txBox="1"/>
          <p:nvPr/>
        </p:nvSpPr>
        <p:spPr>
          <a:xfrm>
            <a:off x="6012853" y="3127248"/>
            <a:ext cx="1143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App Logic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B10678-0E0C-434F-A765-1758268C45E5}"/>
              </a:ext>
            </a:extLst>
          </p:cNvPr>
          <p:cNvSpPr txBox="1"/>
          <p:nvPr/>
        </p:nvSpPr>
        <p:spPr>
          <a:xfrm>
            <a:off x="5989274" y="5010912"/>
            <a:ext cx="1090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Database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16B21CC9-6C2C-41CF-996C-759A57F9E6D1}"/>
              </a:ext>
            </a:extLst>
          </p:cNvPr>
          <p:cNvSpPr txBox="1">
            <a:spLocks/>
          </p:cNvSpPr>
          <p:nvPr/>
        </p:nvSpPr>
        <p:spPr>
          <a:xfrm>
            <a:off x="609600" y="1798637"/>
            <a:ext cx="5384800" cy="4525963"/>
          </a:xfrm>
          <a:prstGeom prst="rect">
            <a:avLst/>
          </a:prstGeom>
          <a:solidFill>
            <a:schemeClr val="accent3"/>
          </a:solidFill>
        </p:spPr>
        <p:txBody>
          <a:bodyPr vert="horz">
            <a:normAutofit fontScale="62500" lnSpcReduction="20000"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IN" dirty="0"/>
              <a:t>Application</a:t>
            </a:r>
          </a:p>
          <a:p>
            <a:pPr lvl="1"/>
            <a:r>
              <a:rPr lang="en-IN" dirty="0"/>
              <a:t>Made up of components</a:t>
            </a:r>
          </a:p>
          <a:p>
            <a:pPr lvl="1"/>
            <a:r>
              <a:rPr lang="en-IN" dirty="0"/>
              <a:t>Each component specifies environment (e.g., run under web server or app server)</a:t>
            </a:r>
          </a:p>
          <a:p>
            <a:pPr lvl="1"/>
            <a:r>
              <a:rPr lang="en-IN" dirty="0"/>
              <a:t>Specifies initial number of components, scale up / scale down policy</a:t>
            </a:r>
          </a:p>
          <a:p>
            <a:endParaRPr lang="en-IN" dirty="0"/>
          </a:p>
          <a:p>
            <a:r>
              <a:rPr lang="en-IN" dirty="0"/>
              <a:t>In Windows Azure</a:t>
            </a:r>
          </a:p>
          <a:p>
            <a:pPr lvl="1"/>
            <a:r>
              <a:rPr lang="en-IN" dirty="0"/>
              <a:t>Web roles – front end type tasks</a:t>
            </a:r>
          </a:p>
          <a:p>
            <a:pPr lvl="1"/>
            <a:r>
              <a:rPr lang="en-IN" dirty="0"/>
              <a:t>Worker roles – those that run tasks in the background (Different colours on the figure)</a:t>
            </a:r>
          </a:p>
          <a:p>
            <a:endParaRPr lang="en-IN" dirty="0"/>
          </a:p>
          <a:p>
            <a:r>
              <a:rPr lang="en-IN" dirty="0"/>
              <a:t>PaaS Layer</a:t>
            </a:r>
          </a:p>
          <a:p>
            <a:pPr marL="614934" lvl="1">
              <a:buFont typeface="Arial"/>
              <a:buChar char="•"/>
            </a:pPr>
            <a:r>
              <a:rPr lang="en-IN" dirty="0"/>
              <a:t>Deploy</a:t>
            </a:r>
          </a:p>
          <a:p>
            <a:pPr marL="614934" lvl="1">
              <a:buFont typeface="Arial"/>
              <a:buChar char="•"/>
            </a:pPr>
            <a:r>
              <a:rPr lang="en-IN" dirty="0"/>
              <a:t>Allocate resources</a:t>
            </a:r>
          </a:p>
          <a:p>
            <a:pPr marL="614934" lvl="1">
              <a:buFont typeface="Arial"/>
              <a:buChar char="•"/>
            </a:pPr>
            <a:r>
              <a:rPr lang="en-IN" dirty="0"/>
              <a:t>Number of instances</a:t>
            </a:r>
          </a:p>
        </p:txBody>
      </p:sp>
      <p:sp>
        <p:nvSpPr>
          <p:cNvPr id="25" name="Rectangle: Rounded Corners 14">
            <a:extLst>
              <a:ext uri="{FF2B5EF4-FFF2-40B4-BE49-F238E27FC236}">
                <a16:creationId xmlns:a16="http://schemas.microsoft.com/office/drawing/2014/main" id="{829B9EB9-EF4A-4432-9515-E96684A01DF9}"/>
              </a:ext>
            </a:extLst>
          </p:cNvPr>
          <p:cNvSpPr/>
          <p:nvPr/>
        </p:nvSpPr>
        <p:spPr>
          <a:xfrm>
            <a:off x="10002148" y="2286000"/>
            <a:ext cx="1903984" cy="6096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PaaS Layer</a:t>
            </a:r>
          </a:p>
        </p:txBody>
      </p:sp>
    </p:spTree>
    <p:extLst>
      <p:ext uri="{BB962C8B-B14F-4D97-AF65-F5344CB8AC3E}">
        <p14:creationId xmlns:p14="http://schemas.microsoft.com/office/powerpoint/2010/main" val="304095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How do we build a </a:t>
            </a:r>
            <a:r>
              <a:rPr lang="en-IN" dirty="0" err="1"/>
              <a:t>PaaS</a:t>
            </a:r>
            <a:r>
              <a:rPr lang="en-IN" dirty="0"/>
              <a:t>?</a:t>
            </a:r>
          </a:p>
          <a:p>
            <a:r>
              <a:rPr lang="en-IN" dirty="0"/>
              <a:t>What do we want to do?</a:t>
            </a:r>
          </a:p>
          <a:p>
            <a:pPr lvl="1"/>
            <a:r>
              <a:rPr lang="en-IN" dirty="0"/>
              <a:t>User pushes into cloud</a:t>
            </a:r>
          </a:p>
          <a:p>
            <a:pPr lvl="2"/>
            <a:r>
              <a:rPr lang="en-IN" dirty="0"/>
              <a:t>Application</a:t>
            </a:r>
          </a:p>
          <a:p>
            <a:pPr lvl="2"/>
            <a:r>
              <a:rPr lang="en-IN" dirty="0"/>
              <a:t>Specification of S/W (e.g., OS, Web server)</a:t>
            </a:r>
          </a:p>
          <a:p>
            <a:pPr lvl="2"/>
            <a:r>
              <a:rPr lang="en-IN" dirty="0"/>
              <a:t>Services needed from cloud (e.g., load balancing, db)</a:t>
            </a:r>
          </a:p>
          <a:p>
            <a:r>
              <a:rPr lang="en-IN" dirty="0"/>
              <a:t>How can I do this?</a:t>
            </a:r>
          </a:p>
          <a:p>
            <a:pPr lvl="1"/>
            <a:r>
              <a:rPr lang="en-IN" dirty="0"/>
              <a:t>Suppose I have an </a:t>
            </a:r>
            <a:r>
              <a:rPr lang="en-IN" dirty="0" err="1"/>
              <a:t>IaaS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Then I need a cloud controller that will automatically create VMs, etc. for the user</a:t>
            </a:r>
          </a:p>
        </p:txBody>
      </p:sp>
      <p:sp>
        <p:nvSpPr>
          <p:cNvPr id="6" name="Vertical Scroll 5"/>
          <p:cNvSpPr/>
          <p:nvPr/>
        </p:nvSpPr>
        <p:spPr>
          <a:xfrm>
            <a:off x="7112000" y="2895600"/>
            <a:ext cx="3048000" cy="121920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App</a:t>
            </a:r>
          </a:p>
          <a:p>
            <a:pPr algn="ctr"/>
            <a:r>
              <a:rPr lang="en-IN" dirty="0"/>
              <a:t>Software Image</a:t>
            </a:r>
          </a:p>
          <a:p>
            <a:pPr algn="ctr"/>
            <a:r>
              <a:rPr lang="en-IN" dirty="0"/>
              <a:t>Services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8331200" y="2057400"/>
            <a:ext cx="5080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7" name="Cloud"/>
          <p:cNvSpPr>
            <a:spLocks noChangeAspect="1" noEditPoints="1" noChangeArrowheads="1"/>
          </p:cNvSpPr>
          <p:nvPr/>
        </p:nvSpPr>
        <p:spPr bwMode="auto">
          <a:xfrm>
            <a:off x="7315200" y="4872038"/>
            <a:ext cx="2586853" cy="1300163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IN" dirty="0"/>
              <a:t>Cloud</a:t>
            </a:r>
          </a:p>
        </p:txBody>
      </p:sp>
      <p:sp>
        <p:nvSpPr>
          <p:cNvPr id="9" name="Down Arrow 8"/>
          <p:cNvSpPr/>
          <p:nvPr/>
        </p:nvSpPr>
        <p:spPr>
          <a:xfrm>
            <a:off x="8331200" y="4114800"/>
            <a:ext cx="5080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7213600" y="4800600"/>
            <a:ext cx="2844800" cy="762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PaaS</a:t>
            </a:r>
            <a:r>
              <a:rPr lang="en-IN" dirty="0"/>
              <a:t> Layer</a:t>
            </a:r>
          </a:p>
          <a:p>
            <a:pPr algn="ctr"/>
            <a:r>
              <a:rPr lang="en-IN" dirty="0"/>
              <a:t>Cloud Controller</a:t>
            </a:r>
          </a:p>
        </p:txBody>
      </p:sp>
      <p:sp>
        <p:nvSpPr>
          <p:cNvPr id="11" name="Cloud"/>
          <p:cNvSpPr>
            <a:spLocks noChangeAspect="1" noEditPoints="1" noChangeArrowheads="1"/>
          </p:cNvSpPr>
          <p:nvPr/>
        </p:nvSpPr>
        <p:spPr bwMode="auto">
          <a:xfrm>
            <a:off x="7315200" y="5334001"/>
            <a:ext cx="2586853" cy="1300163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IN" dirty="0" err="1"/>
              <a:t>IaaS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B87B5-5A5B-D0A1-B22E-F3B06C50DD8F}"/>
              </a:ext>
            </a:extLst>
          </p:cNvPr>
          <p:cNvSpPr/>
          <p:nvPr/>
        </p:nvSpPr>
        <p:spPr>
          <a:xfrm>
            <a:off x="7670800" y="553086"/>
            <a:ext cx="1828800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204099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1027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loud"/>
          <p:cNvSpPr>
            <a:spLocks noChangeAspect="1" noEditPoints="1" noChangeArrowheads="1"/>
          </p:cNvSpPr>
          <p:nvPr/>
        </p:nvSpPr>
        <p:spPr bwMode="auto">
          <a:xfrm>
            <a:off x="5689600" y="2362200"/>
            <a:ext cx="6400800" cy="4398579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b="1" dirty="0" err="1"/>
              <a:t>IaaS</a:t>
            </a:r>
            <a:endParaRPr lang="en-IN" b="1" dirty="0"/>
          </a:p>
        </p:txBody>
      </p:sp>
      <p:sp>
        <p:nvSpPr>
          <p:cNvPr id="31" name="Rounded Rectangle 30"/>
          <p:cNvSpPr/>
          <p:nvPr/>
        </p:nvSpPr>
        <p:spPr>
          <a:xfrm>
            <a:off x="6502400" y="3505200"/>
            <a:ext cx="44704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IN" dirty="0"/>
              <a:t>VMs / Containers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02400" y="4724400"/>
            <a:ext cx="4368800" cy="1219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ctr"/>
            <a:r>
              <a:rPr lang="en-IN" dirty="0"/>
              <a:t>Storage Services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Common Layered </a:t>
            </a:r>
            <a:r>
              <a:rPr lang="en-IN" sz="3600" dirty="0" err="1"/>
              <a:t>PaaS</a:t>
            </a:r>
            <a:r>
              <a:rPr lang="en-IN" sz="3600"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Cloud controller</a:t>
            </a:r>
          </a:p>
          <a:p>
            <a:pPr lvl="1"/>
            <a:r>
              <a:rPr lang="en-IN" dirty="0"/>
              <a:t>Automatically creates VMs and containers</a:t>
            </a:r>
          </a:p>
          <a:p>
            <a:pPr lvl="1"/>
            <a:r>
              <a:rPr lang="en-IN" dirty="0"/>
              <a:t>Deploys applications</a:t>
            </a:r>
          </a:p>
          <a:p>
            <a:pPr lvl="1"/>
            <a:r>
              <a:rPr lang="en-IN" dirty="0"/>
              <a:t>Connects to services</a:t>
            </a:r>
          </a:p>
          <a:p>
            <a:pPr lvl="1"/>
            <a:r>
              <a:rPr lang="en-IN" dirty="0"/>
              <a:t>Automatically scales up or down</a:t>
            </a:r>
          </a:p>
          <a:p>
            <a:r>
              <a:rPr lang="en-IN" dirty="0"/>
              <a:t>Storage Services</a:t>
            </a:r>
          </a:p>
          <a:p>
            <a:pPr lvl="1"/>
            <a:r>
              <a:rPr lang="en-IN" dirty="0"/>
              <a:t>Object</a:t>
            </a:r>
          </a:p>
          <a:p>
            <a:pPr lvl="1"/>
            <a:r>
              <a:rPr lang="en-IN" dirty="0" err="1"/>
              <a:t>NoSQL</a:t>
            </a:r>
            <a:endParaRPr lang="en-IN" dirty="0"/>
          </a:p>
          <a:p>
            <a:pPr lvl="1"/>
            <a:r>
              <a:rPr lang="en-IN" dirty="0"/>
              <a:t>Relational</a:t>
            </a:r>
          </a:p>
          <a:p>
            <a:pPr lvl="1"/>
            <a:r>
              <a:rPr lang="en-IN" dirty="0"/>
              <a:t>Block storage</a:t>
            </a:r>
          </a:p>
          <a:p>
            <a:r>
              <a:rPr lang="en-IN" dirty="0"/>
              <a:t>Applications store state in Storage Services</a:t>
            </a:r>
          </a:p>
          <a:p>
            <a:pPr lvl="1"/>
            <a:r>
              <a:rPr lang="en-IN" dirty="0"/>
              <a:t>Simpler to scale applications</a:t>
            </a:r>
          </a:p>
          <a:p>
            <a:pPr lvl="1"/>
            <a:r>
              <a:rPr lang="en-IN" dirty="0"/>
              <a:t>Easier recovery from failure</a:t>
            </a:r>
          </a:p>
        </p:txBody>
      </p:sp>
      <p:pic>
        <p:nvPicPr>
          <p:cNvPr id="5" name="Picture 2" descr="C:\Program Files (x86)\Microsoft Office\MEDIA\CAGCAT10\j0292020.wmf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7924800" y="1117204"/>
            <a:ext cx="1320800" cy="9401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Down Arrow 6"/>
          <p:cNvSpPr/>
          <p:nvPr/>
        </p:nvSpPr>
        <p:spPr>
          <a:xfrm>
            <a:off x="7924800" y="2057400"/>
            <a:ext cx="508000" cy="838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7518400" y="2895600"/>
            <a:ext cx="28448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Cloud Controller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5600" y="3848100"/>
            <a:ext cx="60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543800" y="3848100"/>
            <a:ext cx="60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8382000" y="3848100"/>
            <a:ext cx="60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9220200" y="3848100"/>
            <a:ext cx="60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058400" y="3848100"/>
            <a:ext cx="60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6705600" y="4800600"/>
            <a:ext cx="60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7543800" y="4800600"/>
            <a:ext cx="60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8382000" y="4800600"/>
            <a:ext cx="60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9220200" y="4800600"/>
            <a:ext cx="60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0058400" y="4800600"/>
            <a:ext cx="60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Can 23"/>
          <p:cNvSpPr/>
          <p:nvPr/>
        </p:nvSpPr>
        <p:spPr>
          <a:xfrm>
            <a:off x="6908800" y="5410200"/>
            <a:ext cx="304800" cy="152400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Can 25"/>
          <p:cNvSpPr/>
          <p:nvPr/>
        </p:nvSpPr>
        <p:spPr>
          <a:xfrm>
            <a:off x="7721600" y="5410200"/>
            <a:ext cx="304800" cy="152400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Can 26"/>
          <p:cNvSpPr/>
          <p:nvPr/>
        </p:nvSpPr>
        <p:spPr>
          <a:xfrm>
            <a:off x="8534400" y="5410200"/>
            <a:ext cx="304800" cy="152400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Can 27"/>
          <p:cNvSpPr/>
          <p:nvPr/>
        </p:nvSpPr>
        <p:spPr>
          <a:xfrm>
            <a:off x="9347200" y="5410200"/>
            <a:ext cx="304800" cy="152400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Can 28"/>
          <p:cNvSpPr/>
          <p:nvPr/>
        </p:nvSpPr>
        <p:spPr>
          <a:xfrm>
            <a:off x="10160000" y="5410200"/>
            <a:ext cx="304800" cy="152400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69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How can we build </a:t>
            </a:r>
            <a:r>
              <a:rPr lang="en-IN" dirty="0" err="1"/>
              <a:t>PaaS</a:t>
            </a:r>
            <a:r>
              <a:rPr lang="en-IN" dirty="0"/>
              <a:t> on top of </a:t>
            </a:r>
            <a:r>
              <a:rPr lang="en-IN" dirty="0" err="1"/>
              <a:t>IaaS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err="1"/>
              <a:t>PaaS</a:t>
            </a:r>
            <a:r>
              <a:rPr lang="en-IN" dirty="0"/>
              <a:t> layer needed</a:t>
            </a:r>
          </a:p>
          <a:p>
            <a:pPr lvl="1"/>
            <a:r>
              <a:rPr lang="en-IN" dirty="0"/>
              <a:t>Create VMs or containers needed</a:t>
            </a:r>
          </a:p>
          <a:p>
            <a:pPr lvl="1"/>
            <a:r>
              <a:rPr lang="en-IN" dirty="0"/>
              <a:t>Deploy application</a:t>
            </a:r>
          </a:p>
          <a:p>
            <a:pPr lvl="1"/>
            <a:r>
              <a:rPr lang="en-IN" dirty="0"/>
              <a:t>Connect to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254977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Azure Application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EB70CA-3E1D-429C-9AA5-EE33D8DBD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1368" y="1981200"/>
            <a:ext cx="3574256" cy="4525963"/>
          </a:xfrm>
        </p:spPr>
        <p:txBody>
          <a:bodyPr>
            <a:normAutofit/>
          </a:bodyPr>
          <a:lstStyle/>
          <a:p>
            <a:r>
              <a:rPr lang="en-US" dirty="0"/>
              <a:t>Compute: Processes</a:t>
            </a:r>
          </a:p>
          <a:p>
            <a:r>
              <a:rPr lang="en-US" dirty="0"/>
              <a:t>Communication: Message Queues</a:t>
            </a:r>
          </a:p>
          <a:p>
            <a:pPr lvl="1"/>
            <a:r>
              <a:rPr lang="en-US" dirty="0"/>
              <a:t>Guaranteed delivery eventually</a:t>
            </a:r>
          </a:p>
          <a:p>
            <a:pPr lvl="1"/>
            <a:r>
              <a:rPr lang="en-US" dirty="0"/>
              <a:t>Even if receiver or network is down now</a:t>
            </a:r>
          </a:p>
          <a:p>
            <a:r>
              <a:rPr lang="en-US" dirty="0"/>
              <a:t>Storage</a:t>
            </a:r>
          </a:p>
          <a:p>
            <a:pPr lvl="1"/>
            <a:r>
              <a:rPr lang="en-US" dirty="0"/>
              <a:t>Db services</a:t>
            </a:r>
          </a:p>
          <a:p>
            <a:pPr lvl="1"/>
            <a:r>
              <a:rPr lang="en-US" dirty="0"/>
              <a:t>Blob services</a:t>
            </a:r>
          </a:p>
          <a:p>
            <a:r>
              <a:rPr lang="en-US" dirty="0"/>
              <a:t>Other services may exist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9399" y="5040199"/>
            <a:ext cx="1920788" cy="13752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Storage</a:t>
            </a:r>
          </a:p>
          <a:p>
            <a:r>
              <a:rPr lang="en-US" dirty="0"/>
              <a:t>--SQL</a:t>
            </a:r>
          </a:p>
          <a:p>
            <a:r>
              <a:rPr lang="en-US" dirty="0"/>
              <a:t>--NoSQL</a:t>
            </a:r>
          </a:p>
          <a:p>
            <a:r>
              <a:rPr lang="en-US" dirty="0"/>
              <a:t>--Blob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681E4A-28F3-4774-8AE5-A2126F2445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69399" y="1359724"/>
            <a:ext cx="4544243" cy="3460559"/>
          </a:xfrm>
          <a:prstGeom prst="rect">
            <a:avLst/>
          </a:prstGeom>
          <a:noFill/>
        </p:spPr>
      </p:pic>
      <p:pic>
        <p:nvPicPr>
          <p:cNvPr id="4" name="Picture 3" descr="C:\Program Files (x86)\Microsoft Office\MEDIA\CAGCAT10\j0292020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11240" y="3939051"/>
            <a:ext cx="902721" cy="8567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7159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Azure Processes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438400" y="1783560"/>
          <a:ext cx="7772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0679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Worker Roles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600200" y="1600200"/>
          <a:ext cx="7772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69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B10692B-7995-4071-8F14-C58F7604D8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FB10692B-7995-4071-8F14-C58F7604D8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CFFAF6-7A5E-4B47-9B68-7973C4A5A1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75CFFAF6-7A5E-4B47-9B68-7973C4A5A1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BDE4404-C681-43C4-B6CA-B54834B75A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8BDE4404-C681-43C4-B6CA-B54834B75A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6C0E940-2FFB-420B-81F2-EEF7E96057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26C0E940-2FFB-420B-81F2-EEF7E96057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Load Balancing - 1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reality, we would have Multiple Web role processes</a:t>
            </a:r>
          </a:p>
          <a:p>
            <a:pPr lvl="1"/>
            <a:r>
              <a:rPr lang="en-US" dirty="0"/>
              <a:t>Need a load balancer</a:t>
            </a:r>
          </a:p>
          <a:p>
            <a:r>
              <a:rPr lang="en-US" dirty="0"/>
              <a:t>What are the requirements for a load balancer?</a:t>
            </a:r>
          </a:p>
        </p:txBody>
      </p:sp>
    </p:spTree>
    <p:extLst>
      <p:ext uri="{BB962C8B-B14F-4D97-AF65-F5344CB8AC3E}">
        <p14:creationId xmlns:p14="http://schemas.microsoft.com/office/powerpoint/2010/main" val="361677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Load Balancing – 2 – Requirements 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870098"/>
              </p:ext>
            </p:extLst>
          </p:nvPr>
        </p:nvGraphicFramePr>
        <p:xfrm>
          <a:off x="1219200" y="1981200"/>
          <a:ext cx="7772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984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Load Balancing – 3 Hash Based distribution 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7467600" y="1981200"/>
          <a:ext cx="2743200" cy="4374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2057400" y="2362200"/>
            <a:ext cx="5176838" cy="3048000"/>
            <a:chOff x="1223962" y="1981200"/>
            <a:chExt cx="7153275" cy="417138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23962" y="1981200"/>
              <a:ext cx="7153275" cy="4171386"/>
            </a:xfrm>
            <a:prstGeom prst="rect">
              <a:avLst/>
            </a:prstGeom>
          </p:spPr>
        </p:pic>
        <p:pic>
          <p:nvPicPr>
            <p:cNvPr id="4" name="Picture 3" descr="C:\Program Files (x86)\Microsoft Office\MEDIA\CAGCAT10\j0292020.wmf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295400" y="3810000"/>
              <a:ext cx="1111427" cy="105487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</p:spTree>
    <p:extLst>
      <p:ext uri="{BB962C8B-B14F-4D97-AF65-F5344CB8AC3E}">
        <p14:creationId xmlns:p14="http://schemas.microsoft.com/office/powerpoint/2010/main" val="484616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Load Balancing – 4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1" y="1600201"/>
            <a:ext cx="6238875" cy="4666939"/>
          </a:xfrm>
          <a:prstGeom prst="rect">
            <a:avLst/>
          </a:prstGeom>
        </p:spPr>
      </p:pic>
      <p:pic>
        <p:nvPicPr>
          <p:cNvPr id="8" name="Picture 7" descr="C:\Program Files (x86)\Microsoft Office\MEDIA\CAGCAT10\j0292020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1" y="2133601"/>
            <a:ext cx="1111427" cy="10548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10" name="Connector: Elbow 9"/>
          <p:cNvCxnSpPr>
            <a:stCxn id="8" idx="2"/>
          </p:cNvCxnSpPr>
          <p:nvPr/>
        </p:nvCxnSpPr>
        <p:spPr>
          <a:xfrm rot="16200000" flipH="1">
            <a:off x="3029461" y="3000730"/>
            <a:ext cx="745192" cy="1120686"/>
          </a:xfrm>
          <a:prstGeom prst="bentConnector2">
            <a:avLst/>
          </a:prstGeom>
          <a:ln w="38100"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41176" y="4746938"/>
            <a:ext cx="2595429" cy="123793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Traffic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Make DNS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Get IP address of one of the gateways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Connect to gateway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2021" y="1316661"/>
            <a:ext cx="2808463" cy="123793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Application Gateway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Round-robin load balancing of HTTP(S)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be used to load balance internal requests also</a:t>
            </a:r>
          </a:p>
        </p:txBody>
      </p:sp>
    </p:spTree>
    <p:extLst>
      <p:ext uri="{BB962C8B-B14F-4D97-AF65-F5344CB8AC3E}">
        <p14:creationId xmlns:p14="http://schemas.microsoft.com/office/powerpoint/2010/main" val="276374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Storage: Blob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Allows storage and retrieval of binary or text data (files?)</a:t>
            </a:r>
          </a:p>
          <a:p>
            <a:r>
              <a:rPr lang="en-US" dirty="0"/>
              <a:t>Two types of blobs</a:t>
            </a:r>
          </a:p>
          <a:p>
            <a:pPr lvl="1"/>
            <a:r>
              <a:rPr lang="en-US" dirty="0"/>
              <a:t>Page blobs: optimized for random access</a:t>
            </a:r>
          </a:p>
          <a:p>
            <a:pPr lvl="1"/>
            <a:r>
              <a:rPr lang="en-US" dirty="0"/>
              <a:t>Block blobs: optimized for sequential access</a:t>
            </a:r>
          </a:p>
          <a:p>
            <a:r>
              <a:rPr lang="en-US" dirty="0"/>
              <a:t>Blobs are stored in </a:t>
            </a:r>
            <a:r>
              <a:rPr lang="en-US" i="1" dirty="0"/>
              <a:t>containers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  <a:hlinkClick r:id="rId2"/>
              </a:rPr>
              <a:t>http://myaccount.blob.core.windows.net/container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  <a:hlinkClick r:id="rId3"/>
              </a:rPr>
              <a:t>http://myaccount.blob.core.windows.net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is the root container</a:t>
            </a:r>
          </a:p>
          <a:p>
            <a:pPr lvl="1"/>
            <a:r>
              <a:rPr lang="en-US" dirty="0">
                <a:cs typeface="Courier New" pitchFamily="49" charset="0"/>
              </a:rPr>
              <a:t>Container names can have the ‘/’ character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Blobs can have associated metadata (key-value pairs)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Storage: Table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NoSQL database</a:t>
            </a:r>
          </a:p>
          <a:p>
            <a:r>
              <a:rPr lang="en-US" dirty="0"/>
              <a:t>Tables indexed by a key</a:t>
            </a:r>
          </a:p>
          <a:p>
            <a:r>
              <a:rPr lang="en-US" dirty="0"/>
              <a:t>Key has two parts</a:t>
            </a:r>
          </a:p>
          <a:p>
            <a:pPr lvl="1"/>
            <a:r>
              <a:rPr lang="en-US" dirty="0"/>
              <a:t>Partition key</a:t>
            </a:r>
          </a:p>
          <a:p>
            <a:pPr lvl="1"/>
            <a:r>
              <a:rPr lang="en-US" dirty="0"/>
              <a:t>Row key</a:t>
            </a:r>
          </a:p>
          <a:p>
            <a:r>
              <a:rPr lang="en-US" dirty="0"/>
              <a:t>Table is partitioned on partition key</a:t>
            </a:r>
          </a:p>
          <a:p>
            <a:pPr lvl="1"/>
            <a:r>
              <a:rPr lang="en-US" dirty="0"/>
              <a:t>Rows with the same partition key are stored in the same partition</a:t>
            </a:r>
          </a:p>
          <a:p>
            <a:r>
              <a:rPr lang="en-US" dirty="0"/>
              <a:t>Row key identifies row in a partition</a:t>
            </a:r>
          </a:p>
          <a:p>
            <a:r>
              <a:rPr lang="en-US" dirty="0"/>
              <a:t>&lt;Partition key, row key&gt;  together uniquely identify a row</a:t>
            </a:r>
          </a:p>
        </p:txBody>
      </p:sp>
      <p:sp>
        <p:nvSpPr>
          <p:cNvPr id="5" name="Cylinder 4"/>
          <p:cNvSpPr/>
          <p:nvPr/>
        </p:nvSpPr>
        <p:spPr>
          <a:xfrm>
            <a:off x="8915400" y="1295400"/>
            <a:ext cx="838200" cy="1143000"/>
          </a:xfrm>
          <a:prstGeom prst="can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ylinder 5"/>
          <p:cNvSpPr/>
          <p:nvPr/>
        </p:nvSpPr>
        <p:spPr>
          <a:xfrm>
            <a:off x="8915400" y="2890482"/>
            <a:ext cx="838200" cy="1143000"/>
          </a:xfrm>
          <a:prstGeom prst="can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ylinder 6"/>
          <p:cNvSpPr/>
          <p:nvPr/>
        </p:nvSpPr>
        <p:spPr>
          <a:xfrm>
            <a:off x="8951536" y="4572000"/>
            <a:ext cx="838200" cy="1143000"/>
          </a:xfrm>
          <a:prstGeom prst="can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400800" y="1866900"/>
            <a:ext cx="1676400" cy="3429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7086600" y="1866900"/>
            <a:ext cx="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59266" y="1220570"/>
            <a:ext cx="1088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</a:t>
            </a:r>
          </a:p>
          <a:p>
            <a:r>
              <a:rPr lang="en-US" dirty="0"/>
              <a:t>Key</a:t>
            </a:r>
          </a:p>
        </p:txBody>
      </p:sp>
      <p:cxnSp>
        <p:nvCxnSpPr>
          <p:cNvPr id="14" name="Connector: Elbow 13"/>
          <p:cNvCxnSpPr>
            <a:cxnSpLocks/>
            <a:endCxn id="6" idx="2"/>
          </p:cNvCxnSpPr>
          <p:nvPr/>
        </p:nvCxnSpPr>
        <p:spPr>
          <a:xfrm>
            <a:off x="6768378" y="2038350"/>
            <a:ext cx="2147022" cy="1423632"/>
          </a:xfrm>
          <a:prstGeom prst="bentConnector3">
            <a:avLst>
              <a:gd name="adj1" fmla="val 825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68378" y="3447842"/>
            <a:ext cx="21470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Determines which partition to put tuple</a:t>
            </a:r>
          </a:p>
        </p:txBody>
      </p:sp>
      <p:cxnSp>
        <p:nvCxnSpPr>
          <p:cNvPr id="20" name="Connector: Elbow 19"/>
          <p:cNvCxnSpPr>
            <a:cxnSpLocks/>
          </p:cNvCxnSpPr>
          <p:nvPr/>
        </p:nvCxnSpPr>
        <p:spPr>
          <a:xfrm>
            <a:off x="7543800" y="2038350"/>
            <a:ext cx="1524000" cy="1180892"/>
          </a:xfrm>
          <a:prstGeom prst="bentConnector3">
            <a:avLst>
              <a:gd name="adj1" fmla="val -103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43800" y="2628796"/>
            <a:ext cx="13850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Selects row in partition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8839" y="1196727"/>
            <a:ext cx="667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</a:t>
            </a:r>
          </a:p>
          <a:p>
            <a:r>
              <a:rPr lang="en-US" dirty="0"/>
              <a:t>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363" y="2848286"/>
            <a:ext cx="461665" cy="1299395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dirty="0"/>
              <a:t>3 partitions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Azure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database service</a:t>
            </a:r>
          </a:p>
          <a:p>
            <a:r>
              <a:rPr lang="en-US" dirty="0"/>
              <a:t>Based on SQL Server</a:t>
            </a:r>
          </a:p>
          <a:p>
            <a:r>
              <a:rPr lang="en-US" dirty="0"/>
              <a:t> Use </a:t>
            </a:r>
            <a:r>
              <a:rPr lang="en-US" dirty="0" err="1"/>
              <a:t>.Net</a:t>
            </a:r>
            <a:r>
              <a:rPr lang="en-US" dirty="0"/>
              <a:t> APIs in the same way that they would be used in a non-cloud application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A3CE-7925-4AC4-808E-710EE524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Assignment/Video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41DF7-D728-4C2F-A275-95508AC21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Google, The Cloud and the Future of Computing</a:t>
            </a:r>
          </a:p>
          <a:p>
            <a:pPr lvl="1"/>
            <a:r>
              <a:rPr lang="en-IN" dirty="0">
                <a:hlinkClick r:id="rId2"/>
              </a:rPr>
              <a:t>https://www.youtube.com/watch?v=jUs3qtbbPV0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5846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8968</TotalTime>
  <Words>981</Words>
  <Application>Microsoft Office PowerPoint</Application>
  <PresentationFormat>Widescreen</PresentationFormat>
  <Paragraphs>211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Courier New</vt:lpstr>
      <vt:lpstr>Wingdings 3</vt:lpstr>
      <vt:lpstr>Ion</vt:lpstr>
      <vt:lpstr>Lecture 4: PaaS Programming Model</vt:lpstr>
      <vt:lpstr>Motivational Exercise 1 (10 mins)</vt:lpstr>
      <vt:lpstr>Motivational Exercise 1: Solution</vt:lpstr>
      <vt:lpstr>Exercise - PaaS Programming Model (5 mins)</vt:lpstr>
      <vt:lpstr>Exercise - PaaS Programming Model (5 mins)</vt:lpstr>
      <vt:lpstr>PaaS Programming Model – solution</vt:lpstr>
      <vt:lpstr>Introduction</vt:lpstr>
      <vt:lpstr>Common Layered PaaS Architecture</vt:lpstr>
      <vt:lpstr>Review</vt:lpstr>
      <vt:lpstr>Windows Azure Application Architecture</vt:lpstr>
      <vt:lpstr>Windows Azure Processes</vt:lpstr>
      <vt:lpstr>Why Use Worker Roles</vt:lpstr>
      <vt:lpstr>Azure Load Balancing - 1</vt:lpstr>
      <vt:lpstr>Azure Load Balancing – 2 – Requirements </vt:lpstr>
      <vt:lpstr>Azure Load Balancing – 3 Hash Based distribution </vt:lpstr>
      <vt:lpstr>Azure Load Balancing – 4 </vt:lpstr>
      <vt:lpstr>Azure Storage: Blob service</vt:lpstr>
      <vt:lpstr>Azure Storage: Table Service</vt:lpstr>
      <vt:lpstr>SQL Azure</vt:lpstr>
      <vt:lpstr>Assignment/Video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Dinkar Sitaram</dc:creator>
  <cp:lastModifiedBy>Subramaniam Kalambur</cp:lastModifiedBy>
  <cp:revision>176</cp:revision>
  <dcterms:created xsi:type="dcterms:W3CDTF">2017-02-03T06:56:37Z</dcterms:created>
  <dcterms:modified xsi:type="dcterms:W3CDTF">2025-08-21T15:56:58Z</dcterms:modified>
</cp:coreProperties>
</file>